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Lst>
  <p:sldSz cx="32918400" cy="32918400"/>
  <p:notesSz cx="7004050" cy="9283700"/>
  <p:defaultTextStyle>
    <a:defPPr>
      <a:defRPr lang="en-US"/>
    </a:defPPr>
    <a:lvl1pPr algn="l" rtl="0" fontAlgn="base">
      <a:spcBef>
        <a:spcPct val="0"/>
      </a:spcBef>
      <a:spcAft>
        <a:spcPct val="0"/>
      </a:spcAft>
      <a:defRPr sz="2600" kern="1200">
        <a:solidFill>
          <a:schemeClr val="tx1"/>
        </a:solidFill>
        <a:latin typeface="Arial" pitchFamily="34" charset="0"/>
        <a:ea typeface="+mn-ea"/>
        <a:cs typeface="+mn-cs"/>
      </a:defRPr>
    </a:lvl1pPr>
    <a:lvl2pPr marL="374069" algn="l" rtl="0" fontAlgn="base">
      <a:spcBef>
        <a:spcPct val="0"/>
      </a:spcBef>
      <a:spcAft>
        <a:spcPct val="0"/>
      </a:spcAft>
      <a:defRPr sz="2600" kern="1200">
        <a:solidFill>
          <a:schemeClr val="tx1"/>
        </a:solidFill>
        <a:latin typeface="Arial" pitchFamily="34" charset="0"/>
        <a:ea typeface="+mn-ea"/>
        <a:cs typeface="+mn-cs"/>
      </a:defRPr>
    </a:lvl2pPr>
    <a:lvl3pPr marL="748139" algn="l" rtl="0" fontAlgn="base">
      <a:spcBef>
        <a:spcPct val="0"/>
      </a:spcBef>
      <a:spcAft>
        <a:spcPct val="0"/>
      </a:spcAft>
      <a:defRPr sz="2600" kern="1200">
        <a:solidFill>
          <a:schemeClr val="tx1"/>
        </a:solidFill>
        <a:latin typeface="Arial" pitchFamily="34" charset="0"/>
        <a:ea typeface="+mn-ea"/>
        <a:cs typeface="+mn-cs"/>
      </a:defRPr>
    </a:lvl3pPr>
    <a:lvl4pPr marL="1122209" algn="l" rtl="0" fontAlgn="base">
      <a:spcBef>
        <a:spcPct val="0"/>
      </a:spcBef>
      <a:spcAft>
        <a:spcPct val="0"/>
      </a:spcAft>
      <a:defRPr sz="2600" kern="1200">
        <a:solidFill>
          <a:schemeClr val="tx1"/>
        </a:solidFill>
        <a:latin typeface="Arial" pitchFamily="34" charset="0"/>
        <a:ea typeface="+mn-ea"/>
        <a:cs typeface="+mn-cs"/>
      </a:defRPr>
    </a:lvl4pPr>
    <a:lvl5pPr marL="1496279" algn="l" rtl="0" fontAlgn="base">
      <a:spcBef>
        <a:spcPct val="0"/>
      </a:spcBef>
      <a:spcAft>
        <a:spcPct val="0"/>
      </a:spcAft>
      <a:defRPr sz="2600" kern="1200">
        <a:solidFill>
          <a:schemeClr val="tx1"/>
        </a:solidFill>
        <a:latin typeface="Arial" pitchFamily="34" charset="0"/>
        <a:ea typeface="+mn-ea"/>
        <a:cs typeface="+mn-cs"/>
      </a:defRPr>
    </a:lvl5pPr>
    <a:lvl6pPr marL="1870348" algn="l" defTabSz="748139" rtl="0" eaLnBrk="1" latinLnBrk="0" hangingPunct="1">
      <a:defRPr sz="2600" kern="1200">
        <a:solidFill>
          <a:schemeClr val="tx1"/>
        </a:solidFill>
        <a:latin typeface="Arial" pitchFamily="34" charset="0"/>
        <a:ea typeface="+mn-ea"/>
        <a:cs typeface="+mn-cs"/>
      </a:defRPr>
    </a:lvl6pPr>
    <a:lvl7pPr marL="2244418" algn="l" defTabSz="748139" rtl="0" eaLnBrk="1" latinLnBrk="0" hangingPunct="1">
      <a:defRPr sz="2600" kern="1200">
        <a:solidFill>
          <a:schemeClr val="tx1"/>
        </a:solidFill>
        <a:latin typeface="Arial" pitchFamily="34" charset="0"/>
        <a:ea typeface="+mn-ea"/>
        <a:cs typeface="+mn-cs"/>
      </a:defRPr>
    </a:lvl7pPr>
    <a:lvl8pPr marL="2618487" algn="l" defTabSz="748139" rtl="0" eaLnBrk="1" latinLnBrk="0" hangingPunct="1">
      <a:defRPr sz="2600" kern="1200">
        <a:solidFill>
          <a:schemeClr val="tx1"/>
        </a:solidFill>
        <a:latin typeface="Arial" pitchFamily="34" charset="0"/>
        <a:ea typeface="+mn-ea"/>
        <a:cs typeface="+mn-cs"/>
      </a:defRPr>
    </a:lvl8pPr>
    <a:lvl9pPr marL="2992557" algn="l" defTabSz="748139" rtl="0" eaLnBrk="1" latinLnBrk="0" hangingPunct="1">
      <a:defRPr sz="2600"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0416" userDrawn="1">
          <p15:clr>
            <a:srgbClr val="A4A3A4"/>
          </p15:clr>
        </p15:guide>
        <p15:guide id="2"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6EA4"/>
    <a:srgbClr val="EAEAEA"/>
    <a:srgbClr val="FFFFFF"/>
    <a:srgbClr val="006699"/>
    <a:srgbClr val="CCECFF"/>
    <a:srgbClr val="F8F8F8"/>
    <a:srgbClr val="FFFF66"/>
    <a:srgbClr val="003A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201C4F-201B-4EAF-B1F3-82B07EA8CCAC}" v="5" dt="2020-06-28T17:19:23.918"/>
  </p1510:revLst>
</p1510:revInfo>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4403" autoAdjust="0"/>
    <p:restoredTop sz="94676" autoAdjust="0"/>
  </p:normalViewPr>
  <p:slideViewPr>
    <p:cSldViewPr>
      <p:cViewPr>
        <p:scale>
          <a:sx n="35" d="100"/>
          <a:sy n="35" d="100"/>
        </p:scale>
        <p:origin x="-156" y="40"/>
      </p:cViewPr>
      <p:guideLst>
        <p:guide orient="horz" pos="10416"/>
        <p:guide pos="103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6" name="Instructions"/>
          <p:cNvSpPr/>
          <p:nvPr userDrawn="1"/>
        </p:nvSpPr>
        <p:spPr>
          <a:xfrm>
            <a:off x="-10287000" y="0"/>
            <a:ext cx="9601200" cy="329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71421" tIns="171421" rIns="171421" bIns="171421"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800"/>
              </a:spcAft>
            </a:pPr>
            <a:r>
              <a:rPr lang="en-US" sz="7200" dirty="0">
                <a:solidFill>
                  <a:srgbClr val="7F7F7F"/>
                </a:solidFill>
                <a:latin typeface="Calibri" pitchFamily="34" charset="0"/>
                <a:cs typeface="Calibri" panose="020F0502020204030204" pitchFamily="34" charset="0"/>
              </a:rPr>
              <a:t>Poster Print Size:</a:t>
            </a:r>
            <a:endParaRPr sz="7200" dirty="0">
              <a:solidFill>
                <a:srgbClr val="7F7F7F"/>
              </a:solidFill>
              <a:latin typeface="Calibri" pitchFamily="34" charset="0"/>
              <a:cs typeface="Calibri" panose="020F0502020204030204" pitchFamily="34" charset="0"/>
            </a:endParaRPr>
          </a:p>
          <a:p>
            <a:pPr lvl="0">
              <a:spcBef>
                <a:spcPts val="0"/>
              </a:spcBef>
              <a:spcAft>
                <a:spcPts val="1800"/>
              </a:spcAft>
            </a:pPr>
            <a:r>
              <a:rPr lang="en-US" sz="4900" dirty="0">
                <a:solidFill>
                  <a:srgbClr val="7F7F7F"/>
                </a:solidFill>
                <a:latin typeface="Calibri" pitchFamily="34" charset="0"/>
                <a:cs typeface="Calibri" panose="020F0502020204030204" pitchFamily="34" charset="0"/>
              </a:rPr>
              <a:t>This poster template is 36” high by 36” wide. It can be used to print any poster with a 1:1 aspect ratio.</a:t>
            </a:r>
          </a:p>
          <a:p>
            <a:pPr lvl="0">
              <a:spcBef>
                <a:spcPts val="0"/>
              </a:spcBef>
              <a:spcAft>
                <a:spcPts val="1800"/>
              </a:spcAft>
            </a:pPr>
            <a:r>
              <a:rPr lang="en-US" sz="7200" dirty="0">
                <a:solidFill>
                  <a:srgbClr val="7F7F7F"/>
                </a:solidFill>
                <a:latin typeface="Calibri" pitchFamily="34" charset="0"/>
                <a:cs typeface="Calibri" panose="020F0502020204030204" pitchFamily="34" charset="0"/>
              </a:rPr>
              <a:t>Placeholders</a:t>
            </a:r>
            <a:r>
              <a:rPr sz="7200" dirty="0">
                <a:solidFill>
                  <a:srgbClr val="7F7F7F"/>
                </a:solidFill>
                <a:latin typeface="Calibri" pitchFamily="34" charset="0"/>
                <a:cs typeface="Calibri" panose="020F0502020204030204" pitchFamily="34" charset="0"/>
              </a:rPr>
              <a:t>:</a:t>
            </a:r>
          </a:p>
          <a:p>
            <a:pPr lvl="0">
              <a:spcBef>
                <a:spcPts val="0"/>
              </a:spcBef>
              <a:spcAft>
                <a:spcPts val="1800"/>
              </a:spcAft>
            </a:pPr>
            <a:r>
              <a:rPr sz="4900" dirty="0">
                <a:solidFill>
                  <a:srgbClr val="7F7F7F"/>
                </a:solidFill>
                <a:latin typeface="Calibri" pitchFamily="34" charset="0"/>
                <a:cs typeface="Calibri" panose="020F0502020204030204" pitchFamily="34" charset="0"/>
              </a:rPr>
              <a:t>The </a:t>
            </a:r>
            <a:r>
              <a:rPr lang="en-US" sz="4900" dirty="0">
                <a:solidFill>
                  <a:srgbClr val="7F7F7F"/>
                </a:solidFill>
                <a:latin typeface="Calibri" pitchFamily="34" charset="0"/>
                <a:cs typeface="Calibri" panose="020F0502020204030204" pitchFamily="34" charset="0"/>
              </a:rPr>
              <a:t>various elements included</a:t>
            </a:r>
            <a:r>
              <a:rPr sz="4900" dirty="0">
                <a:solidFill>
                  <a:srgbClr val="7F7F7F"/>
                </a:solidFill>
                <a:latin typeface="Calibri" pitchFamily="34" charset="0"/>
                <a:cs typeface="Calibri" panose="020F0502020204030204" pitchFamily="34" charset="0"/>
              </a:rPr>
              <a:t> in this </a:t>
            </a:r>
            <a:r>
              <a:rPr lang="en-US" sz="4900" dirty="0">
                <a:solidFill>
                  <a:srgbClr val="7F7F7F"/>
                </a:solidFill>
                <a:latin typeface="Calibri" pitchFamily="34" charset="0"/>
                <a:cs typeface="Calibri" panose="020F0502020204030204" pitchFamily="34" charset="0"/>
              </a:rPr>
              <a:t>poster are ones</a:t>
            </a:r>
            <a:r>
              <a:rPr lang="en-US" sz="4900" baseline="0" dirty="0">
                <a:solidFill>
                  <a:srgbClr val="7F7F7F"/>
                </a:solidFill>
                <a:latin typeface="Calibri" pitchFamily="34" charset="0"/>
                <a:cs typeface="Calibri" panose="020F0502020204030204" pitchFamily="34" charset="0"/>
              </a:rPr>
              <a:t> we often see in medical, research, and scientific posters.</a:t>
            </a:r>
            <a:r>
              <a:rPr sz="4900" dirty="0">
                <a:solidFill>
                  <a:srgbClr val="7F7F7F"/>
                </a:solidFill>
                <a:latin typeface="Calibri" pitchFamily="34" charset="0"/>
                <a:cs typeface="Calibri" panose="020F0502020204030204" pitchFamily="34" charset="0"/>
              </a:rPr>
              <a:t> </a:t>
            </a:r>
            <a:r>
              <a:rPr lang="en-US" sz="4900" dirty="0">
                <a:solidFill>
                  <a:srgbClr val="7F7F7F"/>
                </a:solidFill>
                <a:latin typeface="Calibri" pitchFamily="34" charset="0"/>
                <a:cs typeface="Calibri" panose="020F0502020204030204" pitchFamily="34" charset="0"/>
              </a:rPr>
              <a:t>Feel</a:t>
            </a:r>
            <a:r>
              <a:rPr lang="en-US" sz="49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800"/>
              </a:spcAft>
            </a:pPr>
            <a:r>
              <a:rPr lang="en-US" sz="7200" dirty="0">
                <a:solidFill>
                  <a:srgbClr val="7F7F7F"/>
                </a:solidFill>
                <a:latin typeface="Calibri" pitchFamily="34" charset="0"/>
                <a:cs typeface="Calibri" panose="020F0502020204030204" pitchFamily="34" charset="0"/>
              </a:rPr>
              <a:t>Image</a:t>
            </a:r>
            <a:r>
              <a:rPr lang="en-US" sz="7200" baseline="0" dirty="0">
                <a:solidFill>
                  <a:srgbClr val="7F7F7F"/>
                </a:solidFill>
                <a:latin typeface="Calibri" pitchFamily="34" charset="0"/>
                <a:cs typeface="Calibri" panose="020F0502020204030204" pitchFamily="34" charset="0"/>
              </a:rPr>
              <a:t> Quality</a:t>
            </a:r>
            <a:r>
              <a:rPr lang="en-US" sz="7200" dirty="0">
                <a:solidFill>
                  <a:srgbClr val="7F7F7F"/>
                </a:solidFill>
                <a:latin typeface="Calibri" pitchFamily="34" charset="0"/>
                <a:cs typeface="Calibri" panose="020F0502020204030204" pitchFamily="34" charset="0"/>
              </a:rPr>
              <a:t>:</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You can place digital photos or logo art in your poster file by selecting the </a:t>
            </a:r>
            <a:r>
              <a:rPr lang="en-US" sz="4900" b="1" dirty="0">
                <a:solidFill>
                  <a:srgbClr val="7F7F7F"/>
                </a:solidFill>
                <a:latin typeface="Calibri" pitchFamily="34" charset="0"/>
                <a:cs typeface="Calibri" panose="020F0502020204030204" pitchFamily="34" charset="0"/>
              </a:rPr>
              <a:t>Insert, Picture</a:t>
            </a:r>
            <a:r>
              <a:rPr lang="en-US" sz="49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4900" b="1" dirty="0">
                <a:solidFill>
                  <a:srgbClr val="7F7F7F"/>
                </a:solidFill>
                <a:latin typeface="Calibri" pitchFamily="34" charset="0"/>
                <a:cs typeface="Calibri" panose="020F0502020204030204" pitchFamily="34" charset="0"/>
              </a:rPr>
              <a:t>150-200 pixels per inch in their final printed size</a:t>
            </a:r>
            <a:r>
              <a:rPr lang="en-US" sz="4900" dirty="0">
                <a:solidFill>
                  <a:srgbClr val="7F7F7F"/>
                </a:solidFill>
                <a:latin typeface="Calibri" pitchFamily="34" charset="0"/>
                <a:cs typeface="Calibri" panose="020F0502020204030204" pitchFamily="34" charset="0"/>
              </a:rPr>
              <a:t>. For instance, a 1600 x 1200 pixel</a:t>
            </a:r>
            <a:r>
              <a:rPr lang="en-US" sz="4900" baseline="0" dirty="0">
                <a:solidFill>
                  <a:srgbClr val="7F7F7F"/>
                </a:solidFill>
                <a:latin typeface="Calibri" pitchFamily="34" charset="0"/>
                <a:cs typeface="Calibri" panose="020F0502020204030204" pitchFamily="34" charset="0"/>
              </a:rPr>
              <a:t> photo will usually look fine up to </a:t>
            </a:r>
            <a:r>
              <a:rPr lang="en-US" sz="4900" dirty="0">
                <a:solidFill>
                  <a:srgbClr val="7F7F7F"/>
                </a:solidFill>
                <a:latin typeface="Calibri" pitchFamily="34" charset="0"/>
                <a:cs typeface="Calibri" panose="020F0502020204030204" pitchFamily="34" charset="0"/>
              </a:rPr>
              <a:t>8“-10” wide on your printed poster.</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800"/>
              </a:spcAft>
            </a:pPr>
            <a:br>
              <a:rPr lang="en-US" sz="3600" dirty="0">
                <a:solidFill>
                  <a:srgbClr val="7F7F7F"/>
                </a:solidFill>
                <a:latin typeface="Calibri" pitchFamily="34" charset="0"/>
                <a:cs typeface="Calibri" panose="020F0502020204030204" pitchFamily="34" charset="0"/>
              </a:rPr>
            </a:br>
            <a:r>
              <a:rPr lang="en-US" sz="3600" dirty="0">
                <a:solidFill>
                  <a:srgbClr val="7F7F7F"/>
                </a:solidFill>
                <a:latin typeface="Calibri" pitchFamily="34" charset="0"/>
                <a:cs typeface="Calibri" panose="020F0502020204030204" pitchFamily="34" charset="0"/>
              </a:rPr>
              <a:t>[This sidebar area does not print.]</a:t>
            </a:r>
          </a:p>
        </p:txBody>
      </p:sp>
      <p:grpSp>
        <p:nvGrpSpPr>
          <p:cNvPr id="7" name="Group 6"/>
          <p:cNvGrpSpPr/>
          <p:nvPr userDrawn="1"/>
        </p:nvGrpSpPr>
        <p:grpSpPr>
          <a:xfrm>
            <a:off x="33604200" y="0"/>
            <a:ext cx="9601200" cy="32918400"/>
            <a:chOff x="33832800" y="0"/>
            <a:chExt cx="12801600" cy="43891200"/>
          </a:xfrm>
        </p:grpSpPr>
        <p:sp>
          <p:nvSpPr>
            <p:cNvPr id="8"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800"/>
                </a:spcAft>
              </a:pPr>
              <a:r>
                <a:rPr lang="en-US" sz="7200" dirty="0">
                  <a:solidFill>
                    <a:schemeClr val="bg1">
                      <a:lumMod val="50000"/>
                    </a:schemeClr>
                  </a:solidFill>
                  <a:latin typeface="Calibri" pitchFamily="34" charset="0"/>
                  <a:cs typeface="Calibri" panose="020F0502020204030204" pitchFamily="34" charset="0"/>
                </a:rPr>
                <a:t>Change</a:t>
              </a:r>
              <a:r>
                <a:rPr lang="en-US" sz="7200" baseline="0" dirty="0">
                  <a:solidFill>
                    <a:schemeClr val="bg1">
                      <a:lumMod val="50000"/>
                    </a:schemeClr>
                  </a:solidFill>
                  <a:latin typeface="Calibri" pitchFamily="34" charset="0"/>
                  <a:cs typeface="Calibri" panose="020F0502020204030204" pitchFamily="34" charset="0"/>
                </a:rPr>
                <a:t> Color Theme</a:t>
              </a:r>
              <a:r>
                <a:rPr lang="en-US" sz="7200" dirty="0">
                  <a:solidFill>
                    <a:schemeClr val="bg1">
                      <a:lumMod val="50000"/>
                    </a:schemeClr>
                  </a:solidFill>
                  <a:latin typeface="Calibri" pitchFamily="34" charset="0"/>
                  <a:cs typeface="Calibri" panose="020F0502020204030204" pitchFamily="34" charset="0"/>
                </a:rPr>
                <a:t>:</a:t>
              </a:r>
              <a:endParaRPr sz="720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r>
                <a:rPr lang="en-US" sz="49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49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To change the color theme, select the </a:t>
              </a:r>
              <a:r>
                <a:rPr lang="en-US" sz="4900" b="1" baseline="0" dirty="0">
                  <a:solidFill>
                    <a:schemeClr val="bg1">
                      <a:lumMod val="50000"/>
                    </a:schemeClr>
                  </a:solidFill>
                  <a:latin typeface="Calibri" pitchFamily="34" charset="0"/>
                  <a:cs typeface="Calibri" panose="020F0502020204030204" pitchFamily="34" charset="0"/>
                </a:rPr>
                <a:t>Design</a:t>
              </a:r>
              <a:r>
                <a:rPr lang="en-US" sz="4900" baseline="0" dirty="0">
                  <a:solidFill>
                    <a:schemeClr val="bg1">
                      <a:lumMod val="50000"/>
                    </a:schemeClr>
                  </a:solidFill>
                  <a:latin typeface="Calibri" pitchFamily="34" charset="0"/>
                  <a:cs typeface="Calibri" panose="020F0502020204030204" pitchFamily="34" charset="0"/>
                </a:rPr>
                <a:t> tab, then select the </a:t>
              </a:r>
              <a:r>
                <a:rPr lang="en-US" sz="4900" b="1" baseline="0" dirty="0">
                  <a:solidFill>
                    <a:schemeClr val="bg1">
                      <a:lumMod val="50000"/>
                    </a:schemeClr>
                  </a:solidFill>
                  <a:latin typeface="Calibri" pitchFamily="34" charset="0"/>
                  <a:cs typeface="Calibri" panose="020F0502020204030204" pitchFamily="34" charset="0"/>
                </a:rPr>
                <a:t>Colors</a:t>
              </a:r>
              <a:r>
                <a:rPr lang="en-US" sz="49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800"/>
                </a:spcAft>
              </a:pPr>
              <a:r>
                <a:rPr lang="en-US" sz="72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1800"/>
                </a:spcAft>
              </a:pPr>
              <a:r>
                <a:rPr lang="en-US" sz="4900" dirty="0">
                  <a:solidFill>
                    <a:schemeClr val="bg1">
                      <a:lumMod val="50000"/>
                    </a:schemeClr>
                  </a:solidFill>
                  <a:latin typeface="Calibri" pitchFamily="34" charset="0"/>
                  <a:cs typeface="Calibri" panose="020F0502020204030204" pitchFamily="34" charset="0"/>
                </a:rPr>
                <a:t>Once your poster file is ready, visit</a:t>
              </a:r>
              <a:r>
                <a:rPr lang="en-US" sz="4900" baseline="0" dirty="0">
                  <a:solidFill>
                    <a:schemeClr val="bg1">
                      <a:lumMod val="50000"/>
                    </a:schemeClr>
                  </a:solidFill>
                  <a:latin typeface="Calibri" pitchFamily="34" charset="0"/>
                  <a:cs typeface="Calibri" panose="020F0502020204030204" pitchFamily="34" charset="0"/>
                </a:rPr>
                <a:t> </a:t>
              </a:r>
              <a:r>
                <a:rPr lang="en-US" sz="4900" b="1" baseline="0" dirty="0">
                  <a:solidFill>
                    <a:schemeClr val="bg1">
                      <a:lumMod val="50000"/>
                    </a:schemeClr>
                  </a:solidFill>
                  <a:latin typeface="Calibri" pitchFamily="34" charset="0"/>
                  <a:cs typeface="Calibri" panose="020F0502020204030204" pitchFamily="34" charset="0"/>
                </a:rPr>
                <a:t>www.genigraphics.com</a:t>
              </a:r>
              <a:r>
                <a:rPr lang="en-US" sz="49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49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4900" baseline="0" dirty="0">
                  <a:solidFill>
                    <a:schemeClr val="bg1">
                      <a:lumMod val="50000"/>
                    </a:schemeClr>
                  </a:solidFill>
                  <a:latin typeface="Calibri" pitchFamily="34" charset="0"/>
                  <a:cs typeface="Calibri" panose="020F0502020204030204" pitchFamily="34" charset="0"/>
                </a:rPr>
                <a:t>US and Canada:  1-800-790-4001</a:t>
              </a:r>
              <a:br>
                <a:rPr lang="en-US" sz="4900" baseline="0" dirty="0">
                  <a:solidFill>
                    <a:schemeClr val="bg1">
                      <a:lumMod val="50000"/>
                    </a:schemeClr>
                  </a:solidFill>
                  <a:latin typeface="Calibri" pitchFamily="34" charset="0"/>
                  <a:cs typeface="Calibri" panose="020F0502020204030204" pitchFamily="34" charset="0"/>
                </a:rPr>
              </a:br>
              <a:r>
                <a:rPr lang="en-US" sz="49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3600" dirty="0">
                  <a:solidFill>
                    <a:schemeClr val="bg1">
                      <a:lumMod val="50000"/>
                    </a:schemeClr>
                  </a:solidFill>
                  <a:latin typeface="Calibri" pitchFamily="34" charset="0"/>
                  <a:cs typeface="Calibri" panose="020F0502020204030204" pitchFamily="34" charset="0"/>
                </a:rPr>
              </a:br>
              <a:r>
                <a:rPr lang="en-US" sz="3600" dirty="0">
                  <a:solidFill>
                    <a:schemeClr val="bg1">
                      <a:lumMod val="50000"/>
                    </a:schemeClr>
                  </a:solidFill>
                  <a:latin typeface="Calibri" pitchFamily="34" charset="0"/>
                  <a:cs typeface="Calibri" panose="020F0502020204030204" pitchFamily="34" charset="0"/>
                </a:rPr>
                <a:t>[This sidebar area does not print.]</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spTree>
    <p:extLst>
      <p:ext uri="{BB962C8B-B14F-4D97-AF65-F5344CB8AC3E}">
        <p14:creationId xmlns:p14="http://schemas.microsoft.com/office/powerpoint/2010/main" val="13110488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7"/>
          <p:cNvSpPr>
            <a:spLocks noChangeArrowheads="1"/>
          </p:cNvSpPr>
          <p:nvPr userDrawn="1"/>
        </p:nvSpPr>
        <p:spPr bwMode="auto">
          <a:xfrm>
            <a:off x="0" y="4572000"/>
            <a:ext cx="6583680" cy="28346400"/>
          </a:xfrm>
          <a:prstGeom prst="rect">
            <a:avLst/>
          </a:prstGeom>
          <a:solidFill>
            <a:schemeClr val="accent1">
              <a:lumMod val="75000"/>
            </a:schemeClr>
          </a:solidFill>
          <a:ln>
            <a:noFill/>
          </a:ln>
          <a:effectLst/>
        </p:spPr>
        <p:txBody>
          <a:bodyPr wrap="none" lIns="342872" tIns="171437" rIns="342872" bIns="342872"/>
          <a:lstStyle/>
          <a:p>
            <a:pPr algn="ctr" defTabSz="3291293"/>
            <a:endParaRPr lang="en-US" sz="3600" dirty="0">
              <a:latin typeface="Calibri" pitchFamily="34" charset="0"/>
            </a:endParaRPr>
          </a:p>
        </p:txBody>
      </p:sp>
      <p:sp>
        <p:nvSpPr>
          <p:cNvPr id="8" name="Rectangle 8"/>
          <p:cNvSpPr>
            <a:spLocks noChangeArrowheads="1"/>
          </p:cNvSpPr>
          <p:nvPr userDrawn="1"/>
        </p:nvSpPr>
        <p:spPr bwMode="auto">
          <a:xfrm>
            <a:off x="6583680" y="1"/>
            <a:ext cx="26334720" cy="4572000"/>
          </a:xfrm>
          <a:prstGeom prst="rect">
            <a:avLst/>
          </a:prstGeom>
          <a:solidFill>
            <a:schemeClr val="accent1">
              <a:lumMod val="75000"/>
            </a:schemeClr>
          </a:solidFill>
          <a:ln>
            <a:noFill/>
          </a:ln>
          <a:effectLst/>
        </p:spPr>
        <p:txBody>
          <a:bodyPr wrap="none" lIns="374069" tIns="374069" rIns="374069" bIns="374069"/>
          <a:lstStyle/>
          <a:p>
            <a:endParaRPr lang="en-US" dirty="0">
              <a:latin typeface="Calibri" pitchFamily="34" charset="0"/>
            </a:endParaRPr>
          </a:p>
        </p:txBody>
      </p:sp>
      <p:sp>
        <p:nvSpPr>
          <p:cNvPr id="9" name="Rectangle 9"/>
          <p:cNvSpPr>
            <a:spLocks noChangeArrowheads="1"/>
          </p:cNvSpPr>
          <p:nvPr userDrawn="1"/>
        </p:nvSpPr>
        <p:spPr bwMode="auto">
          <a:xfrm>
            <a:off x="6583680" y="4572000"/>
            <a:ext cx="26334720" cy="28346400"/>
          </a:xfrm>
          <a:prstGeom prst="rect">
            <a:avLst/>
          </a:prstGeom>
          <a:solidFill>
            <a:schemeClr val="bg2"/>
          </a:solidFill>
          <a:ln>
            <a:noFill/>
          </a:ln>
          <a:effectLst/>
        </p:spPr>
        <p:txBody>
          <a:bodyPr wrap="none" lIns="374069" tIns="374069" rIns="374069" bIns="374069"/>
          <a:lstStyle/>
          <a:p>
            <a:endParaRPr lang="en-US" dirty="0">
              <a:latin typeface="Calibri" pitchFamily="34" charset="0"/>
            </a:endParaRPr>
          </a:p>
        </p:txBody>
      </p:sp>
      <p:sp>
        <p:nvSpPr>
          <p:cNvPr id="10" name="Line 11"/>
          <p:cNvSpPr>
            <a:spLocks noChangeShapeType="1"/>
          </p:cNvSpPr>
          <p:nvPr userDrawn="1"/>
        </p:nvSpPr>
        <p:spPr bwMode="auto">
          <a:xfrm>
            <a:off x="6583680" y="0"/>
            <a:ext cx="0" cy="3291840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4814" tIns="37407" rIns="74814" bIns="37407"/>
          <a:lstStyle/>
          <a:p>
            <a:endParaRPr lang="en-US" dirty="0">
              <a:latin typeface="Calibri" pitchFamily="34" charset="0"/>
            </a:endParaRPr>
          </a:p>
        </p:txBody>
      </p:sp>
      <p:sp>
        <p:nvSpPr>
          <p:cNvPr id="11" name="Line 12"/>
          <p:cNvSpPr>
            <a:spLocks noChangeShapeType="1"/>
          </p:cNvSpPr>
          <p:nvPr userDrawn="1"/>
        </p:nvSpPr>
        <p:spPr bwMode="auto">
          <a:xfrm>
            <a:off x="0" y="4572000"/>
            <a:ext cx="32918400"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4814" tIns="37407" rIns="74814" bIns="37407"/>
          <a:lstStyle/>
          <a:p>
            <a:endParaRPr lang="en-US" dirty="0">
              <a:latin typeface="Calibri" pitchFamily="34" charset="0"/>
            </a:endParaRPr>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432000" y="32613600"/>
            <a:ext cx="5297435" cy="185928"/>
          </a:xfrm>
          <a:prstGeom prst="rect">
            <a:avLst/>
          </a:prstGeom>
        </p:spPr>
      </p:pic>
    </p:spTree>
    <p:extLst>
      <p:ext uri="{BB962C8B-B14F-4D97-AF65-F5344CB8AC3E}">
        <p14:creationId xmlns:p14="http://schemas.microsoft.com/office/powerpoint/2010/main" val="2427662649"/>
      </p:ext>
    </p:extLst>
  </p:cSld>
  <p:clrMap bg1="lt1" tx1="dk1" bg2="lt2" tx2="dk2" accent1="accent1" accent2="accent2" accent3="accent3" accent4="accent4" accent5="accent5" accent6="accent6" hlink="hlink" folHlink="folHlink"/>
  <p:sldLayoutIdLst>
    <p:sldLayoutId id="2147483662" r:id="rId1"/>
  </p:sldLayoutIdLst>
  <p:txStyles>
    <p:titleStyle>
      <a:lvl1pPr algn="ctr" defTabSz="3760760" rtl="0" eaLnBrk="1" latinLnBrk="0" hangingPunct="1">
        <a:spcBef>
          <a:spcPct val="0"/>
        </a:spcBef>
        <a:buNone/>
        <a:defRPr sz="18100" kern="1200">
          <a:solidFill>
            <a:schemeClr val="tx1"/>
          </a:solidFill>
          <a:latin typeface="+mj-lt"/>
          <a:ea typeface="+mj-ea"/>
          <a:cs typeface="+mj-cs"/>
        </a:defRPr>
      </a:lvl1pPr>
    </p:titleStyle>
    <p:bodyStyle>
      <a:lvl1pPr marL="1410284" indent="-1410284" algn="l" defTabSz="3760760" rtl="0" eaLnBrk="1" latinLnBrk="0" hangingPunct="1">
        <a:spcBef>
          <a:spcPct val="20000"/>
        </a:spcBef>
        <a:buFont typeface="Arial" pitchFamily="34" charset="0"/>
        <a:buChar char="•"/>
        <a:defRPr sz="13200" kern="1200">
          <a:solidFill>
            <a:schemeClr val="tx1"/>
          </a:solidFill>
          <a:latin typeface="+mn-lt"/>
          <a:ea typeface="+mn-ea"/>
          <a:cs typeface="+mn-cs"/>
        </a:defRPr>
      </a:lvl1pPr>
      <a:lvl2pPr marL="3055619" indent="-1175240" algn="l" defTabSz="3760760"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0951" indent="-940192" algn="l" defTabSz="3760760"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1330" indent="-940192" algn="l" defTabSz="3760760"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1710" indent="-940192" algn="l" defTabSz="3760760"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2094" indent="-940192" algn="l" defTabSz="3760760"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2473" indent="-940192" algn="l" defTabSz="3760760"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2853" indent="-940192" algn="l" defTabSz="3760760"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3233" indent="-940192" algn="l" defTabSz="3760760" rtl="0" eaLnBrk="1" latinLnBrk="0" hangingPunct="1">
        <a:spcBef>
          <a:spcPct val="20000"/>
        </a:spcBef>
        <a:buFont typeface="Arial" pitchFamily="34" charset="0"/>
        <a:buChar char="•"/>
        <a:defRPr sz="8300" kern="1200">
          <a:solidFill>
            <a:schemeClr val="tx1"/>
          </a:solidFill>
          <a:latin typeface="+mn-lt"/>
          <a:ea typeface="+mn-ea"/>
          <a:cs typeface="+mn-cs"/>
        </a:defRPr>
      </a:lvl9pPr>
    </p:bodyStyle>
    <p:otherStyle>
      <a:defPPr>
        <a:defRPr lang="en-US"/>
      </a:defPPr>
      <a:lvl1pPr marL="0" algn="l" defTabSz="3760760" rtl="0" eaLnBrk="1" latinLnBrk="0" hangingPunct="1">
        <a:defRPr sz="7400" kern="1200">
          <a:solidFill>
            <a:schemeClr val="tx1"/>
          </a:solidFill>
          <a:latin typeface="+mn-lt"/>
          <a:ea typeface="+mn-ea"/>
          <a:cs typeface="+mn-cs"/>
        </a:defRPr>
      </a:lvl1pPr>
      <a:lvl2pPr marL="1880380" algn="l" defTabSz="3760760" rtl="0" eaLnBrk="1" latinLnBrk="0" hangingPunct="1">
        <a:defRPr sz="7400" kern="1200">
          <a:solidFill>
            <a:schemeClr val="tx1"/>
          </a:solidFill>
          <a:latin typeface="+mn-lt"/>
          <a:ea typeface="+mn-ea"/>
          <a:cs typeface="+mn-cs"/>
        </a:defRPr>
      </a:lvl2pPr>
      <a:lvl3pPr marL="3760760" algn="l" defTabSz="3760760" rtl="0" eaLnBrk="1" latinLnBrk="0" hangingPunct="1">
        <a:defRPr sz="7400" kern="1200">
          <a:solidFill>
            <a:schemeClr val="tx1"/>
          </a:solidFill>
          <a:latin typeface="+mn-lt"/>
          <a:ea typeface="+mn-ea"/>
          <a:cs typeface="+mn-cs"/>
        </a:defRPr>
      </a:lvl3pPr>
      <a:lvl4pPr marL="5641143" algn="l" defTabSz="3760760" rtl="0" eaLnBrk="1" latinLnBrk="0" hangingPunct="1">
        <a:defRPr sz="7400" kern="1200">
          <a:solidFill>
            <a:schemeClr val="tx1"/>
          </a:solidFill>
          <a:latin typeface="+mn-lt"/>
          <a:ea typeface="+mn-ea"/>
          <a:cs typeface="+mn-cs"/>
        </a:defRPr>
      </a:lvl4pPr>
      <a:lvl5pPr marL="7521522" algn="l" defTabSz="3760760" rtl="0" eaLnBrk="1" latinLnBrk="0" hangingPunct="1">
        <a:defRPr sz="7400" kern="1200">
          <a:solidFill>
            <a:schemeClr val="tx1"/>
          </a:solidFill>
          <a:latin typeface="+mn-lt"/>
          <a:ea typeface="+mn-ea"/>
          <a:cs typeface="+mn-cs"/>
        </a:defRPr>
      </a:lvl5pPr>
      <a:lvl6pPr marL="9401902" algn="l" defTabSz="3760760" rtl="0" eaLnBrk="1" latinLnBrk="0" hangingPunct="1">
        <a:defRPr sz="7400" kern="1200">
          <a:solidFill>
            <a:schemeClr val="tx1"/>
          </a:solidFill>
          <a:latin typeface="+mn-lt"/>
          <a:ea typeface="+mn-ea"/>
          <a:cs typeface="+mn-cs"/>
        </a:defRPr>
      </a:lvl6pPr>
      <a:lvl7pPr marL="11282282" algn="l" defTabSz="3760760" rtl="0" eaLnBrk="1" latinLnBrk="0" hangingPunct="1">
        <a:defRPr sz="7400" kern="1200">
          <a:solidFill>
            <a:schemeClr val="tx1"/>
          </a:solidFill>
          <a:latin typeface="+mn-lt"/>
          <a:ea typeface="+mn-ea"/>
          <a:cs typeface="+mn-cs"/>
        </a:defRPr>
      </a:lvl7pPr>
      <a:lvl8pPr marL="13162661" algn="l" defTabSz="3760760" rtl="0" eaLnBrk="1" latinLnBrk="0" hangingPunct="1">
        <a:defRPr sz="7400" kern="1200">
          <a:solidFill>
            <a:schemeClr val="tx1"/>
          </a:solidFill>
          <a:latin typeface="+mn-lt"/>
          <a:ea typeface="+mn-ea"/>
          <a:cs typeface="+mn-cs"/>
        </a:defRPr>
      </a:lvl8pPr>
      <a:lvl9pPr marL="15043045" algn="l" defTabSz="3760760" rtl="0" eaLnBrk="1" latinLnBrk="0" hangingPunct="1">
        <a:defRPr sz="7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png"/><Relationship Id="rId1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4" name="Text Box 186"/>
          <p:cNvSpPr txBox="1">
            <a:spLocks noChangeArrowheads="1"/>
          </p:cNvSpPr>
          <p:nvPr/>
        </p:nvSpPr>
        <p:spPr bwMode="auto">
          <a:xfrm>
            <a:off x="6583680" y="0"/>
            <a:ext cx="2633472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42872" tIns="685745" rIns="342872" bIns="342872"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lgn="ctr"/>
            <a:r>
              <a:rPr lang="en-US" sz="6600" b="1" dirty="0">
                <a:solidFill>
                  <a:schemeClr val="bg1"/>
                </a:solidFill>
                <a:latin typeface="Calibri" pitchFamily="34" charset="0"/>
              </a:rPr>
              <a:t>Group Visual Sentiment detection via Object detection and Convolutional Neural Network</a:t>
            </a:r>
          </a:p>
        </p:txBody>
      </p:sp>
      <p:sp>
        <p:nvSpPr>
          <p:cNvPr id="2235" name="Text Box 187"/>
          <p:cNvSpPr txBox="1">
            <a:spLocks noChangeArrowheads="1"/>
          </p:cNvSpPr>
          <p:nvPr/>
        </p:nvSpPr>
        <p:spPr bwMode="auto">
          <a:xfrm>
            <a:off x="6583680" y="2574348"/>
            <a:ext cx="26334720" cy="1769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42872" tIns="342872" rIns="342872" bIns="342872"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lgn="ctr"/>
            <a:r>
              <a:rPr lang="en-US" sz="4400" dirty="0">
                <a:solidFill>
                  <a:schemeClr val="bg1"/>
                </a:solidFill>
                <a:latin typeface="Calibri" pitchFamily="34" charset="0"/>
              </a:rPr>
              <a:t>Narayana D</a:t>
            </a:r>
            <a:r>
              <a:rPr lang="en-US" sz="4400" baseline="30000" dirty="0">
                <a:solidFill>
                  <a:schemeClr val="bg1"/>
                </a:solidFill>
                <a:latin typeface="Calibri" pitchFamily="34" charset="0"/>
              </a:rPr>
              <a:t>1</a:t>
            </a:r>
            <a:r>
              <a:rPr lang="en-US" sz="4400" dirty="0">
                <a:solidFill>
                  <a:schemeClr val="bg1"/>
                </a:solidFill>
                <a:latin typeface="Calibri" pitchFamily="34" charset="0"/>
              </a:rPr>
              <a:t>, Radhika Pradeep </a:t>
            </a:r>
            <a:r>
              <a:rPr lang="en-US" sz="4400" baseline="30000" dirty="0">
                <a:solidFill>
                  <a:schemeClr val="bg1"/>
                </a:solidFill>
                <a:latin typeface="Calibri" pitchFamily="34" charset="0"/>
              </a:rPr>
              <a:t>1   </a:t>
            </a:r>
            <a:r>
              <a:rPr lang="en-US" sz="4400" dirty="0" err="1">
                <a:solidFill>
                  <a:schemeClr val="bg1"/>
                </a:solidFill>
                <a:latin typeface="Calibri" pitchFamily="34" charset="0"/>
              </a:rPr>
              <a:t>Anuja</a:t>
            </a:r>
            <a:r>
              <a:rPr lang="en-US" sz="4400" dirty="0">
                <a:solidFill>
                  <a:schemeClr val="bg1"/>
                </a:solidFill>
                <a:latin typeface="Calibri" pitchFamily="34" charset="0"/>
              </a:rPr>
              <a:t> Kulkarni</a:t>
            </a:r>
            <a:r>
              <a:rPr lang="en-US" sz="4400" baseline="30000" dirty="0">
                <a:solidFill>
                  <a:schemeClr val="bg1"/>
                </a:solidFill>
                <a:latin typeface="Calibri" pitchFamily="34" charset="0"/>
              </a:rPr>
              <a:t> 1</a:t>
            </a:r>
            <a:r>
              <a:rPr lang="en-US" sz="4400" dirty="0">
                <a:solidFill>
                  <a:schemeClr val="bg1"/>
                </a:solidFill>
                <a:latin typeface="Calibri" pitchFamily="34" charset="0"/>
              </a:rPr>
              <a:t> Shruti </a:t>
            </a:r>
            <a:r>
              <a:rPr lang="en-US" sz="4400" dirty="0" err="1">
                <a:solidFill>
                  <a:schemeClr val="bg1"/>
                </a:solidFill>
                <a:latin typeface="Calibri" pitchFamily="34" charset="0"/>
              </a:rPr>
              <a:t>Mrinalan</a:t>
            </a:r>
            <a:r>
              <a:rPr lang="en-US" sz="4400" dirty="0">
                <a:solidFill>
                  <a:schemeClr val="bg1"/>
                </a:solidFill>
                <a:latin typeface="Calibri" pitchFamily="34" charset="0"/>
              </a:rPr>
              <a:t> </a:t>
            </a:r>
            <a:r>
              <a:rPr lang="en-US" sz="4400" baseline="30000" dirty="0">
                <a:solidFill>
                  <a:schemeClr val="bg1"/>
                </a:solidFill>
                <a:latin typeface="Calibri" pitchFamily="34" charset="0"/>
              </a:rPr>
              <a:t>1  </a:t>
            </a:r>
            <a:r>
              <a:rPr lang="en-US" sz="4400" dirty="0">
                <a:solidFill>
                  <a:schemeClr val="bg1"/>
                </a:solidFill>
                <a:latin typeface="Calibri" pitchFamily="34" charset="0"/>
              </a:rPr>
              <a:t>Ruchira Mudliar </a:t>
            </a:r>
            <a:r>
              <a:rPr lang="en-US" sz="4400" baseline="30000" dirty="0">
                <a:solidFill>
                  <a:schemeClr val="bg1"/>
                </a:solidFill>
                <a:latin typeface="Calibri" pitchFamily="34" charset="0"/>
              </a:rPr>
              <a:t>1 </a:t>
            </a:r>
            <a:r>
              <a:rPr lang="en-US" sz="4400" dirty="0" err="1">
                <a:solidFill>
                  <a:schemeClr val="bg1"/>
                </a:solidFill>
                <a:latin typeface="Calibri" pitchFamily="34" charset="0"/>
              </a:rPr>
              <a:t>Kavyal</a:t>
            </a:r>
            <a:r>
              <a:rPr lang="en-US" sz="4400" dirty="0">
                <a:solidFill>
                  <a:schemeClr val="bg1"/>
                </a:solidFill>
                <a:latin typeface="Calibri" pitchFamily="34" charset="0"/>
              </a:rPr>
              <a:t> </a:t>
            </a:r>
            <a:r>
              <a:rPr lang="en-US" sz="4400" baseline="30000" dirty="0">
                <a:solidFill>
                  <a:schemeClr val="bg1"/>
                </a:solidFill>
                <a:latin typeface="Calibri" pitchFamily="34" charset="0"/>
              </a:rPr>
              <a:t>1</a:t>
            </a:r>
            <a:r>
              <a:rPr lang="en-US" sz="4400" dirty="0">
                <a:solidFill>
                  <a:schemeClr val="bg1"/>
                </a:solidFill>
                <a:latin typeface="Calibri" pitchFamily="34" charset="0"/>
              </a:rPr>
              <a:t> Great Lakes </a:t>
            </a:r>
            <a:r>
              <a:rPr lang="en-US" sz="4400">
                <a:solidFill>
                  <a:schemeClr val="bg1"/>
                </a:solidFill>
                <a:latin typeface="Calibri" pitchFamily="34" charset="0"/>
              </a:rPr>
              <a:t>Executive Learning</a:t>
            </a:r>
            <a:endParaRPr lang="en-US" sz="4400" dirty="0">
              <a:solidFill>
                <a:schemeClr val="bg1"/>
              </a:solidFill>
              <a:latin typeface="Calibri" pitchFamily="34" charset="0"/>
            </a:endParaRPr>
          </a:p>
        </p:txBody>
      </p:sp>
      <p:sp>
        <p:nvSpPr>
          <p:cNvPr id="2242" name="Text Box 194"/>
          <p:cNvSpPr txBox="1">
            <a:spLocks noChangeArrowheads="1"/>
          </p:cNvSpPr>
          <p:nvPr/>
        </p:nvSpPr>
        <p:spPr bwMode="auto">
          <a:xfrm>
            <a:off x="7269480" y="4638502"/>
            <a:ext cx="7772400" cy="89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71437" tIns="171437" rIns="171437" bIns="171437"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4400" b="1" dirty="0">
                <a:solidFill>
                  <a:schemeClr val="accent1">
                    <a:lumMod val="50000"/>
                  </a:schemeClr>
                </a:solidFill>
                <a:latin typeface="Calibri" pitchFamily="34" charset="0"/>
              </a:rPr>
              <a:t>INTRODUCTION</a:t>
            </a:r>
          </a:p>
        </p:txBody>
      </p:sp>
      <p:sp>
        <p:nvSpPr>
          <p:cNvPr id="2246" name="Text Box 198"/>
          <p:cNvSpPr txBox="1">
            <a:spLocks noChangeArrowheads="1"/>
          </p:cNvSpPr>
          <p:nvPr/>
        </p:nvSpPr>
        <p:spPr bwMode="auto">
          <a:xfrm>
            <a:off x="24460200" y="4638502"/>
            <a:ext cx="7772400" cy="89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71437" tIns="171437" rIns="171437" bIns="171437"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4400" b="1" dirty="0">
                <a:solidFill>
                  <a:schemeClr val="accent1">
                    <a:lumMod val="50000"/>
                  </a:schemeClr>
                </a:solidFill>
                <a:latin typeface="Calibri" pitchFamily="34" charset="0"/>
              </a:rPr>
              <a:t>DISCUSSION</a:t>
            </a:r>
          </a:p>
        </p:txBody>
      </p:sp>
      <p:sp>
        <p:nvSpPr>
          <p:cNvPr id="2247" name="Text Box 199"/>
          <p:cNvSpPr txBox="1">
            <a:spLocks noChangeArrowheads="1"/>
          </p:cNvSpPr>
          <p:nvPr/>
        </p:nvSpPr>
        <p:spPr bwMode="auto">
          <a:xfrm>
            <a:off x="12935283" y="14020800"/>
            <a:ext cx="8046720" cy="89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71437" tIns="171437" rIns="171437" bIns="171437"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4400" b="1" dirty="0">
                <a:solidFill>
                  <a:schemeClr val="accent1">
                    <a:lumMod val="50000"/>
                  </a:schemeClr>
                </a:solidFill>
                <a:latin typeface="Calibri" pitchFamily="34" charset="0"/>
              </a:rPr>
              <a:t>RESULTS</a:t>
            </a:r>
          </a:p>
        </p:txBody>
      </p:sp>
      <p:sp>
        <p:nvSpPr>
          <p:cNvPr id="2288" name="Text Box 240"/>
          <p:cNvSpPr txBox="1">
            <a:spLocks noChangeArrowheads="1"/>
          </p:cNvSpPr>
          <p:nvPr/>
        </p:nvSpPr>
        <p:spPr bwMode="auto">
          <a:xfrm>
            <a:off x="15965494" y="26269662"/>
            <a:ext cx="3094941" cy="377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75" tIns="34287" rIns="68575" bIns="3428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lgn="ctr"/>
            <a:r>
              <a:rPr lang="en-US" sz="2000" b="1" dirty="0">
                <a:solidFill>
                  <a:schemeClr val="accent1">
                    <a:lumMod val="50000"/>
                  </a:schemeClr>
                </a:solidFill>
                <a:latin typeface="Calibri" pitchFamily="34" charset="0"/>
              </a:rPr>
              <a:t>Table 1.</a:t>
            </a:r>
            <a:r>
              <a:rPr lang="en-US" sz="2000" dirty="0">
                <a:solidFill>
                  <a:schemeClr val="accent1">
                    <a:lumMod val="50000"/>
                  </a:schemeClr>
                </a:solidFill>
                <a:latin typeface="Calibri" pitchFamily="34" charset="0"/>
              </a:rPr>
              <a:t> Model Performance</a:t>
            </a:r>
          </a:p>
        </p:txBody>
      </p:sp>
      <p:sp>
        <p:nvSpPr>
          <p:cNvPr id="2289" name="Text Box 241"/>
          <p:cNvSpPr txBox="1">
            <a:spLocks noChangeArrowheads="1"/>
          </p:cNvSpPr>
          <p:nvPr/>
        </p:nvSpPr>
        <p:spPr bwMode="auto">
          <a:xfrm>
            <a:off x="24714174" y="14618749"/>
            <a:ext cx="6150713" cy="377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75" tIns="34287" rIns="68575" bIns="3428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lgn="ctr"/>
            <a:r>
              <a:rPr lang="en-US" sz="2000" b="1" dirty="0">
                <a:solidFill>
                  <a:schemeClr val="accent1">
                    <a:lumMod val="50000"/>
                  </a:schemeClr>
                </a:solidFill>
                <a:latin typeface="Calibri" pitchFamily="34" charset="0"/>
              </a:rPr>
              <a:t>Table 2.</a:t>
            </a:r>
            <a:r>
              <a:rPr lang="en-US" sz="2000" dirty="0">
                <a:solidFill>
                  <a:schemeClr val="accent1">
                    <a:lumMod val="50000"/>
                  </a:schemeClr>
                </a:solidFill>
                <a:latin typeface="Calibri" pitchFamily="34" charset="0"/>
              </a:rPr>
              <a:t> Performance on Egypt AUC Data after re-training.</a:t>
            </a:r>
          </a:p>
        </p:txBody>
      </p:sp>
      <p:sp>
        <p:nvSpPr>
          <p:cNvPr id="2292" name="Text Box 244"/>
          <p:cNvSpPr txBox="1">
            <a:spLocks noChangeArrowheads="1"/>
          </p:cNvSpPr>
          <p:nvPr/>
        </p:nvSpPr>
        <p:spPr bwMode="auto">
          <a:xfrm>
            <a:off x="8763000" y="32046795"/>
            <a:ext cx="3183298" cy="377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75" tIns="34287" rIns="68575" bIns="3428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lgn="ctr"/>
            <a:r>
              <a:rPr lang="en-US" sz="2000" b="1" dirty="0">
                <a:solidFill>
                  <a:schemeClr val="accent1">
                    <a:lumMod val="50000"/>
                  </a:schemeClr>
                </a:solidFill>
                <a:latin typeface="Calibri" pitchFamily="34" charset="0"/>
              </a:rPr>
              <a:t>Figure 1.</a:t>
            </a:r>
            <a:r>
              <a:rPr lang="en-US" sz="2000" dirty="0">
                <a:solidFill>
                  <a:schemeClr val="accent1">
                    <a:lumMod val="50000"/>
                  </a:schemeClr>
                </a:solidFill>
                <a:latin typeface="Calibri" pitchFamily="34" charset="0"/>
              </a:rPr>
              <a:t> Sample Data Image.</a:t>
            </a:r>
          </a:p>
        </p:txBody>
      </p:sp>
      <p:sp>
        <p:nvSpPr>
          <p:cNvPr id="2294" name="Text Box 246"/>
          <p:cNvSpPr txBox="1">
            <a:spLocks noChangeArrowheads="1"/>
          </p:cNvSpPr>
          <p:nvPr/>
        </p:nvSpPr>
        <p:spPr bwMode="auto">
          <a:xfrm>
            <a:off x="457200" y="4638502"/>
            <a:ext cx="5669280" cy="89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71437" tIns="171437" rIns="171437" bIns="171437" anchor="ctr" anchorCtr="0"/>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4400" dirty="0">
                <a:solidFill>
                  <a:schemeClr val="bg1"/>
                </a:solidFill>
                <a:latin typeface="Calibri" pitchFamily="34" charset="0"/>
              </a:rPr>
              <a:t>ABSTRACT</a:t>
            </a:r>
          </a:p>
        </p:txBody>
      </p:sp>
      <p:sp>
        <p:nvSpPr>
          <p:cNvPr id="2307" name="Text Box 259"/>
          <p:cNvSpPr txBox="1">
            <a:spLocks noChangeArrowheads="1"/>
          </p:cNvSpPr>
          <p:nvPr/>
        </p:nvSpPr>
        <p:spPr bwMode="auto">
          <a:xfrm>
            <a:off x="7158499" y="15858605"/>
            <a:ext cx="7772400" cy="89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71437" tIns="171437" rIns="171437" bIns="171437"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4400" b="1" dirty="0">
                <a:solidFill>
                  <a:schemeClr val="accent1">
                    <a:lumMod val="50000"/>
                  </a:schemeClr>
                </a:solidFill>
                <a:latin typeface="Calibri" pitchFamily="34" charset="0"/>
              </a:rPr>
              <a:t>METHODS AND MATERIALS</a:t>
            </a:r>
          </a:p>
        </p:txBody>
      </p:sp>
      <p:sp>
        <p:nvSpPr>
          <p:cNvPr id="2309" name="Text Box 261"/>
          <p:cNvSpPr txBox="1">
            <a:spLocks noChangeArrowheads="1"/>
          </p:cNvSpPr>
          <p:nvPr/>
        </p:nvSpPr>
        <p:spPr bwMode="auto">
          <a:xfrm>
            <a:off x="24460200" y="20955000"/>
            <a:ext cx="7772400" cy="89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71437" tIns="171437" rIns="171437" bIns="171437"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4400" b="1" dirty="0">
                <a:solidFill>
                  <a:schemeClr val="accent1">
                    <a:lumMod val="50000"/>
                  </a:schemeClr>
                </a:solidFill>
                <a:latin typeface="Calibri" pitchFamily="34" charset="0"/>
              </a:rPr>
              <a:t>CONCLUSIONS</a:t>
            </a:r>
          </a:p>
        </p:txBody>
      </p:sp>
      <p:sp>
        <p:nvSpPr>
          <p:cNvPr id="2310" name="Text Box 262"/>
          <p:cNvSpPr txBox="1">
            <a:spLocks noChangeArrowheads="1"/>
          </p:cNvSpPr>
          <p:nvPr/>
        </p:nvSpPr>
        <p:spPr bwMode="auto">
          <a:xfrm>
            <a:off x="24536400" y="27502900"/>
            <a:ext cx="7772400" cy="89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71437" tIns="171437" rIns="171437" bIns="171437" anchor="ctr" anchorCtr="1"/>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4400" b="1" dirty="0">
                <a:solidFill>
                  <a:schemeClr val="accent1">
                    <a:lumMod val="50000"/>
                  </a:schemeClr>
                </a:solidFill>
                <a:latin typeface="Calibri" pitchFamily="34" charset="0"/>
              </a:rPr>
              <a:t>REFERENCES</a:t>
            </a:r>
          </a:p>
        </p:txBody>
      </p:sp>
      <p:sp>
        <p:nvSpPr>
          <p:cNvPr id="2312" name="Text Box 264"/>
          <p:cNvSpPr txBox="1">
            <a:spLocks noChangeArrowheads="1"/>
          </p:cNvSpPr>
          <p:nvPr/>
        </p:nvSpPr>
        <p:spPr bwMode="auto">
          <a:xfrm>
            <a:off x="457200" y="28651200"/>
            <a:ext cx="5669280" cy="89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71437" tIns="171437" rIns="171437" bIns="171437" anchor="ctr" anchorCtr="0"/>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r>
              <a:rPr lang="en-US" sz="4400" dirty="0">
                <a:solidFill>
                  <a:schemeClr val="bg1"/>
                </a:solidFill>
                <a:latin typeface="Calibri" pitchFamily="34" charset="0"/>
              </a:rPr>
              <a:t>CONTACT</a:t>
            </a:r>
          </a:p>
        </p:txBody>
      </p:sp>
      <p:sp>
        <p:nvSpPr>
          <p:cNvPr id="2315" name="Text Box 267"/>
          <p:cNvSpPr txBox="1">
            <a:spLocks noChangeArrowheads="1"/>
          </p:cNvSpPr>
          <p:nvPr/>
        </p:nvSpPr>
        <p:spPr bwMode="auto">
          <a:xfrm>
            <a:off x="457200" y="5611091"/>
            <a:ext cx="5669280" cy="11572399"/>
          </a:xfrm>
          <a:prstGeom prst="rect">
            <a:avLst/>
          </a:prstGeom>
          <a:solidFill>
            <a:schemeClr val="accent1">
              <a:lumMod val="75000"/>
            </a:schemeClr>
          </a:solidFill>
          <a:ln>
            <a:noFill/>
          </a:ln>
          <a:effectLst/>
        </p:spPr>
        <p:txBody>
          <a:bodyPr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defTabSz="3291573" fontAlgn="auto">
              <a:spcBef>
                <a:spcPts val="0"/>
              </a:spcBef>
              <a:spcAft>
                <a:spcPts val="0"/>
              </a:spcAft>
            </a:pPr>
            <a:r>
              <a:rPr lang="en-US" sz="2800" dirty="0">
                <a:solidFill>
                  <a:schemeClr val="bg1"/>
                </a:solidFill>
                <a:latin typeface="Calibri" pitchFamily="34" charset="0"/>
              </a:rPr>
              <a:t>This paper focuses on studying group’s emotion detection. Contemporary world is heading towards AI where every second creates a new vision with an enormous change. In AI, Face recognition is one of the fastest growing domains. Instead of using traditional methods for marking emotions, we propose to automate it by identifying human faces with unique features of their faces, known as Face Recognition. Face detection is a prerequisite step for emotion detection. Face detection aims to identify and locate all faces regardless of their position, scale, orientation, lighting conditions, expression etc. We created a model using SSD lite object detection, Faster RCNN object detection model and SSD Inception net embeddings. </a:t>
            </a:r>
            <a:r>
              <a:rPr lang="en-US" sz="2800" dirty="0" err="1">
                <a:solidFill>
                  <a:schemeClr val="bg1"/>
                </a:solidFill>
                <a:latin typeface="Calibri" pitchFamily="34" charset="0"/>
              </a:rPr>
              <a:t>Widenet</a:t>
            </a:r>
            <a:r>
              <a:rPr lang="en-US" sz="2800" dirty="0">
                <a:solidFill>
                  <a:schemeClr val="bg1"/>
                </a:solidFill>
                <a:latin typeface="Calibri" pitchFamily="34" charset="0"/>
              </a:rPr>
              <a:t> data was used to identify face location and crop faces and FER data set was used to predict emotion/sentiments</a:t>
            </a:r>
          </a:p>
        </p:txBody>
      </p:sp>
      <p:sp>
        <p:nvSpPr>
          <p:cNvPr id="2316" name="Text Box 268"/>
          <p:cNvSpPr txBox="1">
            <a:spLocks noChangeArrowheads="1"/>
          </p:cNvSpPr>
          <p:nvPr/>
        </p:nvSpPr>
        <p:spPr bwMode="auto">
          <a:xfrm>
            <a:off x="15936730" y="14935618"/>
            <a:ext cx="8046720" cy="8125301"/>
          </a:xfrm>
          <a:prstGeom prst="rect">
            <a:avLst/>
          </a:prstGeom>
          <a:solidFill>
            <a:schemeClr val="bg1"/>
          </a:solidFill>
          <a:ln>
            <a:noFill/>
          </a:ln>
          <a:effectLst/>
        </p:spPr>
        <p:txBody>
          <a:bodyPr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defTabSz="3291573" fontAlgn="auto">
              <a:spcBef>
                <a:spcPts val="0"/>
              </a:spcBef>
              <a:spcAft>
                <a:spcPts val="0"/>
              </a:spcAft>
            </a:pPr>
            <a:r>
              <a:rPr lang="en-US" sz="2800" dirty="0">
                <a:solidFill>
                  <a:prstClr val="black"/>
                </a:solidFill>
                <a:latin typeface="Calibri" pitchFamily="34" charset="0"/>
              </a:rPr>
              <a:t>Initially the above described model is used with the 30,000 training images and 1000 validation images from Kaggle dataset considering the amount of time it takes to train the model with the available resources. The performance of the model remained same after training on 5000 training images and 2200 validation images. The validation accuracy of the model trained with 20000 images is 0.32 on Faster RCNN (weighted F1-score) in comparison to validation accuracy of1.1717 (weighted F1-score) of model trained with SSD </a:t>
            </a:r>
            <a:r>
              <a:rPr lang="en-US" sz="2800" dirty="0" err="1">
                <a:solidFill>
                  <a:prstClr val="black"/>
                </a:solidFill>
                <a:latin typeface="Calibri" pitchFamily="34" charset="0"/>
              </a:rPr>
              <a:t>mobilenet</a:t>
            </a:r>
            <a:r>
              <a:rPr lang="en-US" sz="2800" dirty="0">
                <a:solidFill>
                  <a:prstClr val="black"/>
                </a:solidFill>
                <a:latin typeface="Calibri" pitchFamily="34" charset="0"/>
              </a:rPr>
              <a:t>.</a:t>
            </a:r>
          </a:p>
          <a:p>
            <a:pPr defTabSz="3291573" fontAlgn="auto">
              <a:spcBef>
                <a:spcPts val="0"/>
              </a:spcBef>
              <a:spcAft>
                <a:spcPts val="0"/>
              </a:spcAft>
            </a:pPr>
            <a:endParaRPr lang="en-US" sz="2800" dirty="0">
              <a:solidFill>
                <a:prstClr val="black"/>
              </a:solidFill>
              <a:latin typeface="Calibri" pitchFamily="34" charset="0"/>
            </a:endParaRPr>
          </a:p>
          <a:p>
            <a:pPr defTabSz="3291573" fontAlgn="auto">
              <a:spcBef>
                <a:spcPts val="0"/>
              </a:spcBef>
              <a:spcAft>
                <a:spcPts val="0"/>
              </a:spcAft>
            </a:pPr>
            <a:r>
              <a:rPr lang="en-US" sz="2800" dirty="0">
                <a:solidFill>
                  <a:prstClr val="black"/>
                </a:solidFill>
                <a:latin typeface="Calibri" pitchFamily="34" charset="0"/>
              </a:rPr>
              <a:t>Data from wider data and FER was converted to pascal voc. Google </a:t>
            </a:r>
            <a:r>
              <a:rPr lang="en-US" sz="2800" dirty="0" err="1">
                <a:solidFill>
                  <a:prstClr val="black"/>
                </a:solidFill>
                <a:latin typeface="Calibri" pitchFamily="34" charset="0"/>
              </a:rPr>
              <a:t>Colab</a:t>
            </a:r>
            <a:r>
              <a:rPr lang="en-US" sz="2800" dirty="0">
                <a:solidFill>
                  <a:prstClr val="black"/>
                </a:solidFill>
                <a:latin typeface="Calibri" pitchFamily="34" charset="0"/>
              </a:rPr>
              <a:t> is used for training with number of epochs set as 50. The framework was developed using </a:t>
            </a:r>
            <a:r>
              <a:rPr lang="en-US" sz="2800" dirty="0" err="1">
                <a:solidFill>
                  <a:prstClr val="black"/>
                </a:solidFill>
                <a:latin typeface="Calibri" pitchFamily="34" charset="0"/>
              </a:rPr>
              <a:t>Keras</a:t>
            </a:r>
            <a:r>
              <a:rPr lang="en-US" sz="2800" dirty="0">
                <a:solidFill>
                  <a:prstClr val="black"/>
                </a:solidFill>
                <a:latin typeface="Calibri" pitchFamily="34" charset="0"/>
              </a:rPr>
              <a:t>. We have used Model Checkpoint and Early stopping to save the weights of best performing epoch.</a:t>
            </a:r>
          </a:p>
        </p:txBody>
      </p:sp>
      <p:sp>
        <p:nvSpPr>
          <p:cNvPr id="2317" name="Text Box 269"/>
          <p:cNvSpPr txBox="1">
            <a:spLocks noChangeArrowheads="1"/>
          </p:cNvSpPr>
          <p:nvPr/>
        </p:nvSpPr>
        <p:spPr bwMode="auto">
          <a:xfrm>
            <a:off x="24460200" y="5611091"/>
            <a:ext cx="7772400" cy="9417963"/>
          </a:xfrm>
          <a:prstGeom prst="rect">
            <a:avLst/>
          </a:prstGeom>
          <a:solidFill>
            <a:schemeClr val="bg1"/>
          </a:solidFill>
          <a:ln>
            <a:noFill/>
          </a:ln>
          <a:effectLst/>
        </p:spPr>
        <p:txBody>
          <a:bodyPr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marL="514350" indent="-514350" defTabSz="3291573" fontAlgn="auto">
              <a:spcBef>
                <a:spcPts val="0"/>
              </a:spcBef>
              <a:spcAft>
                <a:spcPts val="0"/>
              </a:spcAft>
              <a:buFont typeface="+mj-lt"/>
              <a:buAutoNum type="arabicPeriod"/>
            </a:pPr>
            <a:r>
              <a:rPr lang="en-US" sz="2800" dirty="0">
                <a:solidFill>
                  <a:prstClr val="black"/>
                </a:solidFill>
                <a:latin typeface="Calibri" pitchFamily="34" charset="0"/>
              </a:rPr>
              <a:t>The usage of this can be in classrooms (face to face and Virtual), conferences, and any face to face interactions where you need to observer or understand other persons sentiments</a:t>
            </a:r>
          </a:p>
          <a:p>
            <a:pPr marL="514350" indent="-514350" defTabSz="3291573" fontAlgn="auto">
              <a:spcBef>
                <a:spcPts val="0"/>
              </a:spcBef>
              <a:spcAft>
                <a:spcPts val="0"/>
              </a:spcAft>
              <a:buFont typeface="+mj-lt"/>
              <a:buAutoNum type="arabicPeriod"/>
            </a:pPr>
            <a:r>
              <a:rPr lang="en-US" sz="2800" dirty="0">
                <a:solidFill>
                  <a:prstClr val="black"/>
                </a:solidFill>
                <a:latin typeface="Calibri" pitchFamily="34" charset="0"/>
              </a:rPr>
              <a:t>Experimental results have shown that the proposed face recognition system using Faster RCNN approach has successfully recognized different human faces and recognized emotions more accurately</a:t>
            </a:r>
          </a:p>
          <a:p>
            <a:pPr marL="514350" indent="-514350" defTabSz="3291573" fontAlgn="auto">
              <a:spcBef>
                <a:spcPts val="0"/>
              </a:spcBef>
              <a:spcAft>
                <a:spcPts val="0"/>
              </a:spcAft>
              <a:buFont typeface="+mj-lt"/>
              <a:buAutoNum type="arabicPeriod"/>
            </a:pPr>
            <a:r>
              <a:rPr lang="en-US" sz="2800" dirty="0">
                <a:solidFill>
                  <a:prstClr val="black"/>
                </a:solidFill>
                <a:latin typeface="Calibri" pitchFamily="34" charset="0"/>
              </a:rPr>
              <a:t>The emotion detection using facial recognition proves to be secure, reliable and fast</a:t>
            </a:r>
          </a:p>
          <a:p>
            <a:pPr marL="514350" indent="-514350" defTabSz="3291573" fontAlgn="auto">
              <a:spcBef>
                <a:spcPts val="0"/>
              </a:spcBef>
              <a:spcAft>
                <a:spcPts val="0"/>
              </a:spcAft>
              <a:buFont typeface="+mj-lt"/>
              <a:buAutoNum type="arabicPeriod"/>
            </a:pPr>
            <a:r>
              <a:rPr lang="en-US" sz="2800" dirty="0">
                <a:solidFill>
                  <a:prstClr val="black"/>
                </a:solidFill>
                <a:latin typeface="Calibri" pitchFamily="34" charset="0"/>
              </a:rPr>
              <a:t>and can also significantly improve the understanding of student's sentiments especially in the time where we are having virtual classrooms</a:t>
            </a:r>
          </a:p>
          <a:p>
            <a:pPr marL="514350" indent="-514350" defTabSz="3291573" fontAlgn="auto">
              <a:spcBef>
                <a:spcPts val="0"/>
              </a:spcBef>
              <a:spcAft>
                <a:spcPts val="0"/>
              </a:spcAft>
              <a:buFont typeface="+mj-lt"/>
              <a:buAutoNum type="arabicPeriod"/>
            </a:pPr>
            <a:r>
              <a:rPr lang="en-US" sz="2800" dirty="0">
                <a:solidFill>
                  <a:prstClr val="black"/>
                </a:solidFill>
                <a:latin typeface="Calibri" pitchFamily="34" charset="0"/>
              </a:rPr>
              <a:t>We also introduce a combination of using 2 models for face detection where in if one model fails to identify a face in the frame, it is passed to second model which will again try to identify face in the image. These steps increase </a:t>
            </a:r>
            <a:r>
              <a:rPr lang="en-US" sz="2800" dirty="0" err="1">
                <a:solidFill>
                  <a:prstClr val="black"/>
                </a:solidFill>
                <a:latin typeface="Calibri" pitchFamily="34" charset="0"/>
              </a:rPr>
              <a:t>thetotal</a:t>
            </a:r>
            <a:r>
              <a:rPr lang="en-US" sz="2800" dirty="0">
                <a:solidFill>
                  <a:prstClr val="black"/>
                </a:solidFill>
                <a:latin typeface="Calibri" pitchFamily="34" charset="0"/>
              </a:rPr>
              <a:t> durability of our model</a:t>
            </a:r>
          </a:p>
        </p:txBody>
      </p:sp>
      <p:sp>
        <p:nvSpPr>
          <p:cNvPr id="2318" name="Text Box 270"/>
          <p:cNvSpPr txBox="1">
            <a:spLocks noChangeArrowheads="1"/>
          </p:cNvSpPr>
          <p:nvPr/>
        </p:nvSpPr>
        <p:spPr bwMode="auto">
          <a:xfrm>
            <a:off x="7269480" y="16765786"/>
            <a:ext cx="7772400" cy="7263527"/>
          </a:xfrm>
          <a:prstGeom prst="rect">
            <a:avLst/>
          </a:prstGeom>
          <a:solidFill>
            <a:schemeClr val="bg1"/>
          </a:solidFill>
          <a:ln>
            <a:noFill/>
          </a:ln>
          <a:effectLst/>
        </p:spPr>
        <p:txBody>
          <a:bodyPr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defTabSz="3291573" fontAlgn="auto">
              <a:spcBef>
                <a:spcPts val="0"/>
              </a:spcBef>
              <a:spcAft>
                <a:spcPts val="0"/>
              </a:spcAft>
            </a:pPr>
            <a:r>
              <a:rPr lang="en-US" sz="2800" dirty="0">
                <a:solidFill>
                  <a:prstClr val="black"/>
                </a:solidFill>
                <a:latin typeface="Calibri" pitchFamily="34" charset="0"/>
              </a:rPr>
              <a:t>A. Video Images collection &amp; Storage: Video files from virtual videos, classroom </a:t>
            </a:r>
            <a:r>
              <a:rPr lang="en-US" sz="2800" dirty="0" err="1">
                <a:solidFill>
                  <a:prstClr val="black"/>
                </a:solidFill>
                <a:latin typeface="Calibri" pitchFamily="34" charset="0"/>
              </a:rPr>
              <a:t>cctv</a:t>
            </a:r>
            <a:r>
              <a:rPr lang="en-US" sz="2800" dirty="0">
                <a:solidFill>
                  <a:prstClr val="black"/>
                </a:solidFill>
                <a:latin typeface="Calibri" pitchFamily="34" charset="0"/>
              </a:rPr>
              <a:t> and from camera recordings of people/students to be taken for analysis of sentiment</a:t>
            </a:r>
          </a:p>
          <a:p>
            <a:pPr defTabSz="3291573" fontAlgn="auto">
              <a:spcBef>
                <a:spcPts val="0"/>
              </a:spcBef>
              <a:spcAft>
                <a:spcPts val="0"/>
              </a:spcAft>
            </a:pPr>
            <a:r>
              <a:rPr lang="en-US" sz="2800" dirty="0" err="1">
                <a:solidFill>
                  <a:prstClr val="black"/>
                </a:solidFill>
                <a:latin typeface="Calibri" pitchFamily="34" charset="0"/>
              </a:rPr>
              <a:t>B.Converting</a:t>
            </a:r>
            <a:r>
              <a:rPr lang="en-US" sz="2800" dirty="0">
                <a:solidFill>
                  <a:prstClr val="black"/>
                </a:solidFill>
                <a:latin typeface="Calibri" pitchFamily="34" charset="0"/>
              </a:rPr>
              <a:t> video into frames :Each of the individual videos are converted into frames and picture. If images are provided, same is used as is into the model describe in C.</a:t>
            </a:r>
          </a:p>
          <a:p>
            <a:pPr defTabSz="3291573" fontAlgn="auto">
              <a:spcBef>
                <a:spcPts val="0"/>
              </a:spcBef>
              <a:spcAft>
                <a:spcPts val="0"/>
              </a:spcAft>
            </a:pPr>
            <a:r>
              <a:rPr lang="en-US" sz="2800" dirty="0" err="1">
                <a:solidFill>
                  <a:prstClr val="black"/>
                </a:solidFill>
                <a:latin typeface="Calibri" pitchFamily="34" charset="0"/>
              </a:rPr>
              <a:t>C.Predicting</a:t>
            </a:r>
            <a:r>
              <a:rPr lang="en-US" sz="2800" dirty="0">
                <a:solidFill>
                  <a:prstClr val="black"/>
                </a:solidFill>
                <a:latin typeface="Calibri" pitchFamily="34" charset="0"/>
              </a:rPr>
              <a:t> Faces: Each image is passed into the pre=trained model which predicts faces and stores each face against he image</a:t>
            </a:r>
          </a:p>
          <a:p>
            <a:pPr defTabSz="3291573" fontAlgn="auto">
              <a:spcBef>
                <a:spcPts val="0"/>
              </a:spcBef>
              <a:spcAft>
                <a:spcPts val="0"/>
              </a:spcAft>
            </a:pPr>
            <a:r>
              <a:rPr lang="en-US" sz="2800" dirty="0" err="1">
                <a:solidFill>
                  <a:prstClr val="black"/>
                </a:solidFill>
                <a:latin typeface="Calibri" pitchFamily="34" charset="0"/>
              </a:rPr>
              <a:t>D.Predicting</a:t>
            </a:r>
            <a:r>
              <a:rPr lang="en-US" sz="2800" dirty="0">
                <a:solidFill>
                  <a:prstClr val="black"/>
                </a:solidFill>
                <a:latin typeface="Calibri" pitchFamily="34" charset="0"/>
              </a:rPr>
              <a:t> Emotion from Faces: Each of the individual face is then taken into emotion prediction model to predict the 7 types of emotions</a:t>
            </a:r>
          </a:p>
          <a:p>
            <a:pPr defTabSz="3291573" fontAlgn="auto">
              <a:spcBef>
                <a:spcPts val="0"/>
              </a:spcBef>
              <a:spcAft>
                <a:spcPts val="0"/>
              </a:spcAft>
            </a:pPr>
            <a:endParaRPr lang="en-US" sz="2800" dirty="0">
              <a:solidFill>
                <a:prstClr val="black"/>
              </a:solidFill>
              <a:latin typeface="Calibri" pitchFamily="34" charset="0"/>
            </a:endParaRPr>
          </a:p>
        </p:txBody>
      </p:sp>
      <p:sp>
        <p:nvSpPr>
          <p:cNvPr id="2319" name="Text Box 271"/>
          <p:cNvSpPr txBox="1">
            <a:spLocks noChangeArrowheads="1"/>
          </p:cNvSpPr>
          <p:nvPr/>
        </p:nvSpPr>
        <p:spPr bwMode="auto">
          <a:xfrm>
            <a:off x="24460200" y="21852775"/>
            <a:ext cx="7772400" cy="6832640"/>
          </a:xfrm>
          <a:prstGeom prst="rect">
            <a:avLst/>
          </a:prstGeom>
          <a:solidFill>
            <a:schemeClr val="bg1"/>
          </a:solidFill>
          <a:ln>
            <a:noFill/>
          </a:ln>
          <a:effectLst/>
        </p:spPr>
        <p:txBody>
          <a:bodyPr lIns="182880" tIns="182880" rIns="182880" bIns="182880">
            <a:sp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defTabSz="3291573" fontAlgn="auto">
              <a:spcBef>
                <a:spcPts val="0"/>
              </a:spcBef>
              <a:spcAft>
                <a:spcPts val="0"/>
              </a:spcAft>
            </a:pPr>
            <a:r>
              <a:rPr lang="en-US" sz="2800" dirty="0">
                <a:latin typeface="Calibri" pitchFamily="34" charset="0"/>
              </a:rPr>
              <a:t>This paper addresses the solution of identification of emotions. For face identification Faster RCNN was much better than the other models. And for emotions detection simple CNN was giving better accuracy on test images</a:t>
            </a:r>
          </a:p>
          <a:p>
            <a:pPr defTabSz="3291573" fontAlgn="auto">
              <a:spcBef>
                <a:spcPts val="0"/>
              </a:spcBef>
              <a:spcAft>
                <a:spcPts val="0"/>
              </a:spcAft>
            </a:pPr>
            <a:r>
              <a:rPr lang="en-US" sz="2800" dirty="0">
                <a:latin typeface="Calibri" pitchFamily="34" charset="0"/>
              </a:rPr>
              <a:t>2)We were able to achieve 94% with SSD inception net, however with Faster RCNN the predictions on new data set was better for emotion detection</a:t>
            </a:r>
          </a:p>
          <a:p>
            <a:pPr defTabSz="3291573" fontAlgn="auto">
              <a:spcBef>
                <a:spcPts val="0"/>
              </a:spcBef>
              <a:spcAft>
                <a:spcPts val="0"/>
              </a:spcAft>
            </a:pPr>
            <a:r>
              <a:rPr lang="en-US" sz="2800" dirty="0">
                <a:latin typeface="Calibri" pitchFamily="34" charset="0"/>
              </a:rPr>
              <a:t>3) Images/Video with very less lighting, faces are not properly detected. Also the recommendation is to keep the CCTV in a place where all people faces are visible and enough light on all children. In the classroom image few faces were not visible and these faces could not be detected</a:t>
            </a:r>
          </a:p>
          <a:p>
            <a:pPr defTabSz="3291573" fontAlgn="auto">
              <a:spcBef>
                <a:spcPts val="0"/>
              </a:spcBef>
              <a:spcAft>
                <a:spcPts val="0"/>
              </a:spcAft>
            </a:pPr>
            <a:endParaRPr lang="en-US" sz="2800" dirty="0">
              <a:solidFill>
                <a:prstClr val="black"/>
              </a:solidFill>
              <a:latin typeface="Calibri" pitchFamily="34" charset="0"/>
            </a:endParaRPr>
          </a:p>
        </p:txBody>
      </p:sp>
      <p:sp>
        <p:nvSpPr>
          <p:cNvPr id="2320" name="Text Box 272"/>
          <p:cNvSpPr txBox="1">
            <a:spLocks noChangeArrowheads="1"/>
          </p:cNvSpPr>
          <p:nvPr/>
        </p:nvSpPr>
        <p:spPr bwMode="auto">
          <a:xfrm>
            <a:off x="7269480" y="5611091"/>
            <a:ext cx="7772400" cy="10155383"/>
          </a:xfrm>
          <a:prstGeom prst="rect">
            <a:avLst/>
          </a:prstGeom>
          <a:solidFill>
            <a:schemeClr val="bg1"/>
          </a:solidFill>
          <a:ln>
            <a:noFill/>
          </a:ln>
          <a:effectLst/>
        </p:spPr>
        <p:txBody>
          <a:bodyPr lIns="182880" tIns="182880" rIns="182880" bIns="182880">
            <a:noAutofit/>
          </a:bodyPr>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pPr eaLnBrk="1" hangingPunct="1"/>
            <a:r>
              <a:rPr lang="en-US" sz="2800" dirty="0">
                <a:latin typeface="+mn-lt"/>
              </a:rPr>
              <a:t>.The focus of our paper lies in building a multimodal sentiment recognition system that can be used to analyze the emotions of the students in classrooms. This is essential in the present scenario, with the advent of digital classrooms the interaction between the student and the instructor has decreased considerably. Also, with smartphones and social media, there are innumerable distractions to the students,   letting them to lose focus and their attention span has reduced significantly. This initiates the necessity to develop a multimodal system that can capture their emotions in real-time and associate it with a feeling that clearly represents their mood in the classroom. Our system uses a video camera to capture the faces of the students and the frames are extracted to split the and video for processing and classification.</a:t>
            </a:r>
          </a:p>
          <a:p>
            <a:pPr eaLnBrk="1" hangingPunct="1"/>
            <a:endParaRPr lang="en-US" sz="2800" dirty="0">
              <a:latin typeface="+mn-lt"/>
            </a:endParaRPr>
          </a:p>
        </p:txBody>
      </p:sp>
      <p:sp>
        <p:nvSpPr>
          <p:cNvPr id="2321" name="Text Box 273"/>
          <p:cNvSpPr txBox="1">
            <a:spLocks noChangeArrowheads="1"/>
          </p:cNvSpPr>
          <p:nvPr/>
        </p:nvSpPr>
        <p:spPr bwMode="auto">
          <a:xfrm>
            <a:off x="24460200" y="28378839"/>
            <a:ext cx="7772400" cy="3754874"/>
          </a:xfrm>
          <a:prstGeom prst="rect">
            <a:avLst/>
          </a:prstGeom>
          <a:solidFill>
            <a:schemeClr val="bg1"/>
          </a:solidFill>
          <a:ln>
            <a:noFill/>
          </a:ln>
          <a:effectLst/>
        </p:spPr>
        <p:txBody>
          <a:bodyPr lIns="182880" tIns="182880" rIns="182880" bIns="182880">
            <a:spAutoFit/>
          </a:bodyPr>
          <a:lstStyle>
            <a:lvl1pPr marL="419100" indent="-419100" defTabSz="838200">
              <a:defRPr>
                <a:solidFill>
                  <a:schemeClr val="tx1"/>
                </a:solidFill>
                <a:latin typeface="Arial" pitchFamily="34" charset="0"/>
              </a:defRPr>
            </a:lvl1pPr>
            <a:lvl2pPr marL="890588" indent="-314325" defTabSz="838200">
              <a:defRPr>
                <a:solidFill>
                  <a:schemeClr val="tx1"/>
                </a:solidFill>
                <a:latin typeface="Arial" pitchFamily="34" charset="0"/>
              </a:defRPr>
            </a:lvl2pPr>
            <a:lvl3pPr marL="1309688" indent="-314325" defTabSz="838200">
              <a:defRPr>
                <a:solidFill>
                  <a:schemeClr val="tx1"/>
                </a:solidFill>
                <a:latin typeface="Arial" pitchFamily="34" charset="0"/>
              </a:defRPr>
            </a:lvl3pPr>
            <a:lvl4pPr marL="1728788" indent="-314325" defTabSz="838200">
              <a:defRPr>
                <a:solidFill>
                  <a:schemeClr val="tx1"/>
                </a:solidFill>
                <a:latin typeface="Arial" pitchFamily="34" charset="0"/>
              </a:defRPr>
            </a:lvl4pPr>
            <a:lvl5pPr marL="2147888" indent="-314325" defTabSz="838200">
              <a:defRPr>
                <a:solidFill>
                  <a:schemeClr val="tx1"/>
                </a:solidFill>
                <a:latin typeface="Arial" pitchFamily="34" charset="0"/>
              </a:defRPr>
            </a:lvl5pPr>
            <a:lvl6pPr marL="2605088" indent="-314325" defTabSz="838200" fontAlgn="base">
              <a:spcBef>
                <a:spcPct val="0"/>
              </a:spcBef>
              <a:spcAft>
                <a:spcPct val="0"/>
              </a:spcAft>
              <a:defRPr>
                <a:solidFill>
                  <a:schemeClr val="tx1"/>
                </a:solidFill>
                <a:latin typeface="Arial" pitchFamily="34" charset="0"/>
              </a:defRPr>
            </a:lvl6pPr>
            <a:lvl7pPr marL="3062288" indent="-314325" defTabSz="838200" fontAlgn="base">
              <a:spcBef>
                <a:spcPct val="0"/>
              </a:spcBef>
              <a:spcAft>
                <a:spcPct val="0"/>
              </a:spcAft>
              <a:defRPr>
                <a:solidFill>
                  <a:schemeClr val="tx1"/>
                </a:solidFill>
                <a:latin typeface="Arial" pitchFamily="34" charset="0"/>
              </a:defRPr>
            </a:lvl7pPr>
            <a:lvl8pPr marL="3519488" indent="-314325" defTabSz="838200" fontAlgn="base">
              <a:spcBef>
                <a:spcPct val="0"/>
              </a:spcBef>
              <a:spcAft>
                <a:spcPct val="0"/>
              </a:spcAft>
              <a:defRPr>
                <a:solidFill>
                  <a:schemeClr val="tx1"/>
                </a:solidFill>
                <a:latin typeface="Arial" pitchFamily="34" charset="0"/>
              </a:defRPr>
            </a:lvl8pPr>
            <a:lvl9pPr marL="3976688" indent="-314325" defTabSz="838200" fontAlgn="base">
              <a:spcBef>
                <a:spcPct val="0"/>
              </a:spcBef>
              <a:spcAft>
                <a:spcPct val="0"/>
              </a:spcAft>
              <a:defRPr>
                <a:solidFill>
                  <a:schemeClr val="tx1"/>
                </a:solidFill>
                <a:latin typeface="Arial" pitchFamily="34" charset="0"/>
              </a:defRPr>
            </a:lvl9pPr>
          </a:lstStyle>
          <a:p>
            <a:pPr>
              <a:spcAft>
                <a:spcPct val="50000"/>
              </a:spcAft>
              <a:buFontTx/>
              <a:buAutoNum type="arabicPeriod"/>
            </a:pPr>
            <a:r>
              <a:rPr lang="en-US" sz="2000" dirty="0">
                <a:latin typeface="Calibri" pitchFamily="34" charset="0"/>
              </a:rPr>
              <a:t>[1]	Wei Liu1,, Dragomir Anguelov2,, Dumitru Erhan3,, Christian Szegedy3,Scott Reed4, Cheng-Yang Fu1, Alexander C. Berg “SSD: Single Shot </a:t>
            </a:r>
            <a:r>
              <a:rPr lang="en-US" sz="2000" dirty="0" err="1">
                <a:latin typeface="Calibri" pitchFamily="34" charset="0"/>
              </a:rPr>
              <a:t>MultiBox</a:t>
            </a:r>
            <a:r>
              <a:rPr lang="en-US" sz="2000" dirty="0">
                <a:latin typeface="Calibri" pitchFamily="34" charset="0"/>
              </a:rPr>
              <a:t> Detector” 29 Dec 2016</a:t>
            </a:r>
          </a:p>
          <a:p>
            <a:pPr>
              <a:spcAft>
                <a:spcPct val="50000"/>
              </a:spcAft>
              <a:buFontTx/>
              <a:buAutoNum type="arabicPeriod"/>
            </a:pPr>
            <a:r>
              <a:rPr lang="en-US" sz="2000" dirty="0">
                <a:latin typeface="Calibri" pitchFamily="34" charset="0"/>
              </a:rPr>
              <a:t>[2]	"Challenges in Representation Learning: A report on three machine learning contests." I Goodfellow, D Erhan, PL Carrier, A Courville, M Mirza, B </a:t>
            </a:r>
            <a:r>
              <a:rPr lang="en-US" sz="2000" dirty="0" err="1">
                <a:latin typeface="Calibri" pitchFamily="34" charset="0"/>
              </a:rPr>
              <a:t>Hamner</a:t>
            </a:r>
            <a:r>
              <a:rPr lang="en-US" sz="2000" dirty="0">
                <a:latin typeface="Calibri" pitchFamily="34" charset="0"/>
              </a:rPr>
              <a:t>, W </a:t>
            </a:r>
            <a:r>
              <a:rPr lang="en-US" sz="2000" dirty="0" err="1">
                <a:latin typeface="Calibri" pitchFamily="34" charset="0"/>
              </a:rPr>
              <a:t>Cukierski</a:t>
            </a:r>
            <a:r>
              <a:rPr lang="en-US" sz="2000" dirty="0">
                <a:latin typeface="Calibri" pitchFamily="34" charset="0"/>
              </a:rPr>
              <a:t>, Y Tang, DH Lee, Y Zhou, C Ramaiah, F Feng, R Li,</a:t>
            </a:r>
          </a:p>
          <a:p>
            <a:pPr>
              <a:spcAft>
                <a:spcPct val="50000"/>
              </a:spcAft>
              <a:buFontTx/>
              <a:buAutoNum type="arabicPeriod"/>
            </a:pPr>
            <a:r>
              <a:rPr lang="en-US" sz="2000" dirty="0">
                <a:latin typeface="Calibri" pitchFamily="34" charset="0"/>
              </a:rPr>
              <a:t>[3]	</a:t>
            </a:r>
            <a:r>
              <a:rPr lang="en-US" sz="2000" dirty="0" err="1">
                <a:latin typeface="Calibri" pitchFamily="34" charset="0"/>
              </a:rPr>
              <a:t>Shaoqing</a:t>
            </a:r>
            <a:r>
              <a:rPr lang="en-US" sz="2000" dirty="0">
                <a:latin typeface="Calibri" pitchFamily="34" charset="0"/>
              </a:rPr>
              <a:t> Ren, </a:t>
            </a:r>
            <a:r>
              <a:rPr lang="en-US" sz="2000" dirty="0" err="1">
                <a:latin typeface="Calibri" pitchFamily="34" charset="0"/>
              </a:rPr>
              <a:t>Kaiming</a:t>
            </a:r>
            <a:r>
              <a:rPr lang="en-US" sz="2000" dirty="0">
                <a:latin typeface="Calibri" pitchFamily="34" charset="0"/>
              </a:rPr>
              <a:t> He, Ross </a:t>
            </a:r>
            <a:r>
              <a:rPr lang="en-US" sz="2000" dirty="0" err="1">
                <a:latin typeface="Calibri" pitchFamily="34" charset="0"/>
              </a:rPr>
              <a:t>Girshick</a:t>
            </a:r>
            <a:r>
              <a:rPr lang="en-US" sz="2000" dirty="0">
                <a:latin typeface="Calibri" pitchFamily="34" charset="0"/>
              </a:rPr>
              <a:t>, Jian </a:t>
            </a:r>
            <a:r>
              <a:rPr lang="en-US" sz="2000" dirty="0" err="1">
                <a:latin typeface="Calibri" pitchFamily="34" charset="0"/>
              </a:rPr>
              <a:t>SunK</a:t>
            </a:r>
            <a:r>
              <a:rPr lang="en-US" sz="2000" dirty="0">
                <a:latin typeface="Calibri" pitchFamily="34" charset="0"/>
              </a:rPr>
              <a:t>. Elissa, “Faster R-CNN: Towards Real-Time Object Detection with Region Proposal Networks 4 Jun 2015.</a:t>
            </a:r>
          </a:p>
        </p:txBody>
      </p:sp>
      <p:sp>
        <p:nvSpPr>
          <p:cNvPr id="2322" name="Text Box 274"/>
          <p:cNvSpPr txBox="1">
            <a:spLocks noChangeArrowheads="1"/>
          </p:cNvSpPr>
          <p:nvPr/>
        </p:nvSpPr>
        <p:spPr bwMode="auto">
          <a:xfrm>
            <a:off x="457200" y="29596773"/>
            <a:ext cx="5669280" cy="2105459"/>
          </a:xfrm>
          <a:prstGeom prst="rect">
            <a:avLst/>
          </a:prstGeom>
          <a:solidFill>
            <a:schemeClr val="accent1">
              <a:lumMod val="75000"/>
            </a:schemeClr>
          </a:solidFill>
          <a:ln>
            <a:noFill/>
          </a:ln>
          <a:effectLst/>
        </p:spPr>
        <p:txBody>
          <a:bodyPr lIns="149628" tIns="149628" rIns="149628" bIns="149628"/>
          <a:lstStyle>
            <a:lvl1pPr defTabSz="838200">
              <a:defRPr>
                <a:solidFill>
                  <a:schemeClr val="tx1"/>
                </a:solidFill>
                <a:latin typeface="Arial" pitchFamily="34" charset="0"/>
              </a:defRPr>
            </a:lvl1pPr>
            <a:lvl2pPr marL="419100" defTabSz="838200">
              <a:defRPr>
                <a:solidFill>
                  <a:schemeClr val="tx1"/>
                </a:solidFill>
                <a:latin typeface="Arial" pitchFamily="34" charset="0"/>
              </a:defRPr>
            </a:lvl2pPr>
            <a:lvl3pPr marL="838200" defTabSz="838200">
              <a:defRPr>
                <a:solidFill>
                  <a:schemeClr val="tx1"/>
                </a:solidFill>
                <a:latin typeface="Arial" pitchFamily="34" charset="0"/>
              </a:defRPr>
            </a:lvl3pPr>
            <a:lvl4pPr marL="1257300" defTabSz="838200">
              <a:defRPr>
                <a:solidFill>
                  <a:schemeClr val="tx1"/>
                </a:solidFill>
                <a:latin typeface="Arial" pitchFamily="34" charset="0"/>
              </a:defRPr>
            </a:lvl4pPr>
            <a:lvl5pPr marL="1676400" defTabSz="838200">
              <a:defRPr>
                <a:solidFill>
                  <a:schemeClr val="tx1"/>
                </a:solidFill>
                <a:latin typeface="Arial" pitchFamily="34" charset="0"/>
              </a:defRPr>
            </a:lvl5pPr>
            <a:lvl6pPr marL="2133600" defTabSz="838200" fontAlgn="base">
              <a:spcBef>
                <a:spcPct val="0"/>
              </a:spcBef>
              <a:spcAft>
                <a:spcPct val="0"/>
              </a:spcAft>
              <a:defRPr>
                <a:solidFill>
                  <a:schemeClr val="tx1"/>
                </a:solidFill>
                <a:latin typeface="Arial" pitchFamily="34" charset="0"/>
              </a:defRPr>
            </a:lvl6pPr>
            <a:lvl7pPr marL="2590800" defTabSz="838200" fontAlgn="base">
              <a:spcBef>
                <a:spcPct val="0"/>
              </a:spcBef>
              <a:spcAft>
                <a:spcPct val="0"/>
              </a:spcAft>
              <a:defRPr>
                <a:solidFill>
                  <a:schemeClr val="tx1"/>
                </a:solidFill>
                <a:latin typeface="Arial" pitchFamily="34" charset="0"/>
              </a:defRPr>
            </a:lvl7pPr>
            <a:lvl8pPr marL="3048000" defTabSz="838200" fontAlgn="base">
              <a:spcBef>
                <a:spcPct val="0"/>
              </a:spcBef>
              <a:spcAft>
                <a:spcPct val="0"/>
              </a:spcAft>
              <a:defRPr>
                <a:solidFill>
                  <a:schemeClr val="tx1"/>
                </a:solidFill>
                <a:latin typeface="Arial" pitchFamily="34" charset="0"/>
              </a:defRPr>
            </a:lvl8pPr>
            <a:lvl9pPr marL="3505200" defTabSz="838200" fontAlgn="base">
              <a:spcBef>
                <a:spcPct val="0"/>
              </a:spcBef>
              <a:spcAft>
                <a:spcPct val="0"/>
              </a:spcAft>
              <a:defRPr>
                <a:solidFill>
                  <a:schemeClr val="tx1"/>
                </a:solidFill>
                <a:latin typeface="Arial" pitchFamily="34" charset="0"/>
              </a:defRPr>
            </a:lvl9pPr>
          </a:lstStyle>
          <a:p>
            <a:r>
              <a:rPr lang="en-US" sz="2400" dirty="0">
                <a:solidFill>
                  <a:schemeClr val="bg1"/>
                </a:solidFill>
                <a:latin typeface="Calibri" pitchFamily="34" charset="0"/>
              </a:rPr>
              <a:t>Radhika Pradeep</a:t>
            </a:r>
          </a:p>
          <a:p>
            <a:r>
              <a:rPr lang="en-US" sz="2400" dirty="0">
                <a:solidFill>
                  <a:schemeClr val="bg1"/>
                </a:solidFill>
                <a:latin typeface="Calibri" pitchFamily="34" charset="0"/>
              </a:rPr>
              <a:t>Great lakes</a:t>
            </a:r>
          </a:p>
          <a:p>
            <a:r>
              <a:rPr lang="en-US" sz="2400" dirty="0">
                <a:solidFill>
                  <a:schemeClr val="bg1"/>
                </a:solidFill>
                <a:latin typeface="Calibri" pitchFamily="34" charset="0"/>
              </a:rPr>
              <a:t>Email: Radhika.Pradeep@gmail.com</a:t>
            </a:r>
          </a:p>
          <a:p>
            <a:r>
              <a:rPr lang="en-US" sz="2400" dirty="0">
                <a:solidFill>
                  <a:schemeClr val="bg1"/>
                </a:solidFill>
                <a:latin typeface="Calibri" pitchFamily="34" charset="0"/>
              </a:rPr>
              <a:t>Phone: 9923561611</a:t>
            </a:r>
          </a:p>
          <a:p>
            <a:r>
              <a:rPr lang="en-US" sz="2400" dirty="0">
                <a:solidFill>
                  <a:schemeClr val="bg1"/>
                </a:solidFill>
                <a:latin typeface="Calibri" pitchFamily="34" charset="0"/>
              </a:rPr>
              <a:t>Website: </a:t>
            </a:r>
          </a:p>
        </p:txBody>
      </p:sp>
      <p:pic>
        <p:nvPicPr>
          <p:cNvPr id="33" name="Picture 3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080" y="829200"/>
            <a:ext cx="5965720" cy="1152000"/>
          </a:xfrm>
          <a:prstGeom prst="rect">
            <a:avLst/>
          </a:prstGeom>
        </p:spPr>
      </p:pic>
      <p:pic>
        <p:nvPicPr>
          <p:cNvPr id="37" name="Picture 3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199" y="2743200"/>
            <a:ext cx="5500001" cy="1188000"/>
          </a:xfrm>
          <a:prstGeom prst="rect">
            <a:avLst/>
          </a:prstGeom>
        </p:spPr>
      </p:pic>
      <p:sp>
        <p:nvSpPr>
          <p:cNvPr id="44" name="Google Shape;167;p34"/>
          <p:cNvSpPr txBox="1">
            <a:spLocks/>
          </p:cNvSpPr>
          <p:nvPr/>
        </p:nvSpPr>
        <p:spPr>
          <a:xfrm>
            <a:off x="11774794" y="11837387"/>
            <a:ext cx="8520600" cy="3416400"/>
          </a:xfrm>
          <a:prstGeom prst="rect">
            <a:avLst/>
          </a:prstGeom>
        </p:spPr>
        <p:txBody>
          <a:bodyPr spcFirstLastPara="1" wrap="square" lIns="0" tIns="0" rIns="0" bIns="0" anchor="t" anchorCtr="0">
            <a:noAutofit/>
          </a:bodyPr>
          <a:lstStyle>
            <a:lvl1pPr marL="1410284" indent="-1410284" algn="l" defTabSz="3760760" rtl="0" eaLnBrk="1" latinLnBrk="0" hangingPunct="1">
              <a:spcBef>
                <a:spcPct val="20000"/>
              </a:spcBef>
              <a:buFont typeface="Arial" pitchFamily="34" charset="0"/>
              <a:buChar char="•"/>
              <a:defRPr sz="13200" kern="1200">
                <a:solidFill>
                  <a:schemeClr val="tx1"/>
                </a:solidFill>
                <a:latin typeface="+mn-lt"/>
                <a:ea typeface="+mn-ea"/>
                <a:cs typeface="+mn-cs"/>
              </a:defRPr>
            </a:lvl1pPr>
            <a:lvl2pPr marL="3055619" indent="-1175240" algn="l" defTabSz="3760760"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0951" indent="-940192" algn="l" defTabSz="3760760"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1330" indent="-940192" algn="l" defTabSz="3760760"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61710" indent="-940192" algn="l" defTabSz="3760760"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42094" indent="-940192" algn="l" defTabSz="3760760"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2473" indent="-940192" algn="l" defTabSz="3760760"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2853" indent="-940192" algn="l" defTabSz="3760760"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3233" indent="-940192" algn="l" defTabSz="3760760"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pPr marL="0" indent="0" fontAlgn="auto">
              <a:spcBef>
                <a:spcPts val="300"/>
              </a:spcBef>
              <a:spcAft>
                <a:spcPts val="0"/>
              </a:spcAft>
              <a:buFont typeface="Arial" pitchFamily="34" charset="0"/>
              <a:buNone/>
            </a:pPr>
            <a:endParaRPr lang="en-IN" sz="1200"/>
          </a:p>
          <a:p>
            <a:pPr marL="0" indent="0" fontAlgn="auto">
              <a:spcBef>
                <a:spcPts val="300"/>
              </a:spcBef>
              <a:spcAft>
                <a:spcPts val="0"/>
              </a:spcAft>
              <a:buFont typeface="Arial" pitchFamily="34" charset="0"/>
              <a:buNone/>
            </a:pPr>
            <a:endParaRPr lang="en-IN" sz="1200"/>
          </a:p>
          <a:p>
            <a:pPr marL="0" indent="0" fontAlgn="auto">
              <a:spcBef>
                <a:spcPts val="300"/>
              </a:spcBef>
              <a:spcAft>
                <a:spcPts val="0"/>
              </a:spcAft>
              <a:buFont typeface="Arial" pitchFamily="34" charset="0"/>
              <a:buNone/>
            </a:pPr>
            <a:endParaRPr lang="en-IN" sz="1200"/>
          </a:p>
          <a:p>
            <a:pPr marL="0" indent="0" fontAlgn="auto">
              <a:spcBef>
                <a:spcPts val="300"/>
              </a:spcBef>
              <a:spcAft>
                <a:spcPts val="0"/>
              </a:spcAft>
              <a:buFont typeface="Arial" pitchFamily="34" charset="0"/>
              <a:buNone/>
            </a:pPr>
            <a:endParaRPr lang="en-IN" sz="1200"/>
          </a:p>
          <a:p>
            <a:pPr marL="0" indent="0" fontAlgn="auto">
              <a:spcBef>
                <a:spcPts val="300"/>
              </a:spcBef>
              <a:spcAft>
                <a:spcPts val="0"/>
              </a:spcAft>
              <a:buFont typeface="Arial" pitchFamily="34" charset="0"/>
              <a:buNone/>
            </a:pPr>
            <a:endParaRPr lang="en-IN" sz="1200"/>
          </a:p>
          <a:p>
            <a:pPr marL="0" indent="0" fontAlgn="auto">
              <a:spcBef>
                <a:spcPts val="300"/>
              </a:spcBef>
              <a:spcAft>
                <a:spcPts val="0"/>
              </a:spcAft>
              <a:buFont typeface="Arial" pitchFamily="34" charset="0"/>
              <a:buNone/>
            </a:pPr>
            <a:endParaRPr lang="en-IN" sz="1200" dirty="0"/>
          </a:p>
        </p:txBody>
      </p:sp>
      <p:sp>
        <p:nvSpPr>
          <p:cNvPr id="121" name="Text Box 245"/>
          <p:cNvSpPr txBox="1">
            <a:spLocks noChangeArrowheads="1"/>
          </p:cNvSpPr>
          <p:nvPr/>
        </p:nvSpPr>
        <p:spPr bwMode="auto">
          <a:xfrm>
            <a:off x="15364592" y="10708209"/>
            <a:ext cx="5340043" cy="377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75" tIns="34287" rIns="68575" bIns="3428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lgn="ctr"/>
            <a:r>
              <a:rPr lang="en-US" sz="2000" b="1" dirty="0">
                <a:solidFill>
                  <a:schemeClr val="accent1">
                    <a:lumMod val="50000"/>
                  </a:schemeClr>
                </a:solidFill>
                <a:latin typeface="Calibri" pitchFamily="34" charset="0"/>
              </a:rPr>
              <a:t>Figure 3.</a:t>
            </a:r>
            <a:r>
              <a:rPr lang="en-US" sz="2000" dirty="0">
                <a:solidFill>
                  <a:schemeClr val="accent1">
                    <a:lumMod val="50000"/>
                  </a:schemeClr>
                </a:solidFill>
                <a:latin typeface="Calibri" pitchFamily="34" charset="0"/>
              </a:rPr>
              <a:t> Modified Faster RCNN – Object </a:t>
            </a:r>
            <a:r>
              <a:rPr lang="en-US" sz="2000" dirty="0" err="1">
                <a:solidFill>
                  <a:schemeClr val="accent1">
                    <a:lumMod val="50000"/>
                  </a:schemeClr>
                </a:solidFill>
                <a:latin typeface="Calibri" pitchFamily="34" charset="0"/>
              </a:rPr>
              <a:t>detecton</a:t>
            </a:r>
            <a:endParaRPr lang="en-US" sz="2000" dirty="0">
              <a:solidFill>
                <a:schemeClr val="accent1">
                  <a:lumMod val="50000"/>
                </a:schemeClr>
              </a:solidFill>
              <a:latin typeface="Calibri" pitchFamily="34" charset="0"/>
            </a:endParaRPr>
          </a:p>
        </p:txBody>
      </p:sp>
      <p:sp>
        <p:nvSpPr>
          <p:cNvPr id="123" name="Text Box 245"/>
          <p:cNvSpPr txBox="1">
            <a:spLocks noChangeArrowheads="1"/>
          </p:cNvSpPr>
          <p:nvPr/>
        </p:nvSpPr>
        <p:spPr bwMode="auto">
          <a:xfrm>
            <a:off x="15965494" y="13245950"/>
            <a:ext cx="4719872" cy="377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75" tIns="34287" rIns="68575" bIns="34287">
            <a:spAutoFit/>
          </a:bodyPr>
          <a:lstStyle>
            <a:lvl1pPr defTabSz="4022725">
              <a:defRPr>
                <a:solidFill>
                  <a:schemeClr val="tx1"/>
                </a:solidFill>
                <a:latin typeface="Arial" pitchFamily="34" charset="0"/>
              </a:defRPr>
            </a:lvl1pPr>
            <a:lvl2pPr marL="419100" defTabSz="4022725">
              <a:defRPr>
                <a:solidFill>
                  <a:schemeClr val="tx1"/>
                </a:solidFill>
                <a:latin typeface="Arial" pitchFamily="34" charset="0"/>
              </a:defRPr>
            </a:lvl2pPr>
            <a:lvl3pPr marL="838200" defTabSz="4022725">
              <a:defRPr>
                <a:solidFill>
                  <a:schemeClr val="tx1"/>
                </a:solidFill>
                <a:latin typeface="Arial" pitchFamily="34" charset="0"/>
              </a:defRPr>
            </a:lvl3pPr>
            <a:lvl4pPr marL="1257300" defTabSz="4022725">
              <a:defRPr>
                <a:solidFill>
                  <a:schemeClr val="tx1"/>
                </a:solidFill>
                <a:latin typeface="Arial" pitchFamily="34" charset="0"/>
              </a:defRPr>
            </a:lvl4pPr>
            <a:lvl5pPr marL="1676400" defTabSz="4022725">
              <a:defRPr>
                <a:solidFill>
                  <a:schemeClr val="tx1"/>
                </a:solidFill>
                <a:latin typeface="Arial" pitchFamily="34" charset="0"/>
              </a:defRPr>
            </a:lvl5pPr>
            <a:lvl6pPr marL="2133600" defTabSz="4022725" fontAlgn="base">
              <a:spcBef>
                <a:spcPct val="0"/>
              </a:spcBef>
              <a:spcAft>
                <a:spcPct val="0"/>
              </a:spcAft>
              <a:defRPr>
                <a:solidFill>
                  <a:schemeClr val="tx1"/>
                </a:solidFill>
                <a:latin typeface="Arial" pitchFamily="34" charset="0"/>
              </a:defRPr>
            </a:lvl6pPr>
            <a:lvl7pPr marL="2590800" defTabSz="4022725" fontAlgn="base">
              <a:spcBef>
                <a:spcPct val="0"/>
              </a:spcBef>
              <a:spcAft>
                <a:spcPct val="0"/>
              </a:spcAft>
              <a:defRPr>
                <a:solidFill>
                  <a:schemeClr val="tx1"/>
                </a:solidFill>
                <a:latin typeface="Arial" pitchFamily="34" charset="0"/>
              </a:defRPr>
            </a:lvl7pPr>
            <a:lvl8pPr marL="3048000" defTabSz="4022725" fontAlgn="base">
              <a:spcBef>
                <a:spcPct val="0"/>
              </a:spcBef>
              <a:spcAft>
                <a:spcPct val="0"/>
              </a:spcAft>
              <a:defRPr>
                <a:solidFill>
                  <a:schemeClr val="tx1"/>
                </a:solidFill>
                <a:latin typeface="Arial" pitchFamily="34" charset="0"/>
              </a:defRPr>
            </a:lvl8pPr>
            <a:lvl9pPr marL="3505200" defTabSz="4022725" fontAlgn="base">
              <a:spcBef>
                <a:spcPct val="0"/>
              </a:spcBef>
              <a:spcAft>
                <a:spcPct val="0"/>
              </a:spcAft>
              <a:defRPr>
                <a:solidFill>
                  <a:schemeClr val="tx1"/>
                </a:solidFill>
                <a:latin typeface="Arial" pitchFamily="34" charset="0"/>
              </a:defRPr>
            </a:lvl9pPr>
          </a:lstStyle>
          <a:p>
            <a:pPr algn="ctr"/>
            <a:r>
              <a:rPr lang="en-US" sz="2000" b="1" dirty="0">
                <a:solidFill>
                  <a:schemeClr val="accent1">
                    <a:lumMod val="50000"/>
                  </a:schemeClr>
                </a:solidFill>
                <a:latin typeface="Calibri" pitchFamily="34" charset="0"/>
              </a:rPr>
              <a:t>Figure 4.</a:t>
            </a:r>
            <a:r>
              <a:rPr lang="en-US" sz="2000" dirty="0">
                <a:solidFill>
                  <a:schemeClr val="accent1">
                    <a:lumMod val="50000"/>
                  </a:schemeClr>
                </a:solidFill>
                <a:latin typeface="Calibri" pitchFamily="34" charset="0"/>
              </a:rPr>
              <a:t> Architecture of Other models used</a:t>
            </a:r>
          </a:p>
        </p:txBody>
      </p:sp>
      <p:pic>
        <p:nvPicPr>
          <p:cNvPr id="2" name="Picture 1">
            <a:extLst>
              <a:ext uri="{FF2B5EF4-FFF2-40B4-BE49-F238E27FC236}">
                <a16:creationId xmlns:a16="http://schemas.microsoft.com/office/drawing/2014/main" id="{AF1BF26A-8F23-4F3E-AAA1-FA80E90A6C50}"/>
              </a:ext>
            </a:extLst>
          </p:cNvPr>
          <p:cNvPicPr>
            <a:picLocks noChangeAspect="1"/>
          </p:cNvPicPr>
          <p:nvPr/>
        </p:nvPicPr>
        <p:blipFill>
          <a:blip r:embed="rId4"/>
          <a:stretch>
            <a:fillRect/>
          </a:stretch>
        </p:blipFill>
        <p:spPr>
          <a:xfrm>
            <a:off x="15850148" y="5663191"/>
            <a:ext cx="8046720" cy="4607951"/>
          </a:xfrm>
          <a:prstGeom prst="rect">
            <a:avLst/>
          </a:prstGeom>
        </p:spPr>
      </p:pic>
      <p:pic>
        <p:nvPicPr>
          <p:cNvPr id="3" name="Picture 2">
            <a:extLst>
              <a:ext uri="{FF2B5EF4-FFF2-40B4-BE49-F238E27FC236}">
                <a16:creationId xmlns:a16="http://schemas.microsoft.com/office/drawing/2014/main" id="{B8AAE12F-BAAE-4CA2-A49E-33B97A7CF250}"/>
              </a:ext>
            </a:extLst>
          </p:cNvPr>
          <p:cNvPicPr>
            <a:picLocks noChangeAspect="1"/>
          </p:cNvPicPr>
          <p:nvPr/>
        </p:nvPicPr>
        <p:blipFill>
          <a:blip r:embed="rId5"/>
          <a:stretch>
            <a:fillRect/>
          </a:stretch>
        </p:blipFill>
        <p:spPr>
          <a:xfrm>
            <a:off x="17157763" y="11162872"/>
            <a:ext cx="2802327" cy="2110086"/>
          </a:xfrm>
          <a:prstGeom prst="rect">
            <a:avLst/>
          </a:prstGeom>
        </p:spPr>
      </p:pic>
      <p:pic>
        <p:nvPicPr>
          <p:cNvPr id="4" name="Picture 3">
            <a:extLst>
              <a:ext uri="{FF2B5EF4-FFF2-40B4-BE49-F238E27FC236}">
                <a16:creationId xmlns:a16="http://schemas.microsoft.com/office/drawing/2014/main" id="{1CCCAEDE-1503-4B54-BBA5-666322014C68}"/>
              </a:ext>
            </a:extLst>
          </p:cNvPr>
          <p:cNvPicPr>
            <a:picLocks noChangeAspect="1"/>
          </p:cNvPicPr>
          <p:nvPr/>
        </p:nvPicPr>
        <p:blipFill>
          <a:blip r:embed="rId6"/>
          <a:stretch>
            <a:fillRect/>
          </a:stretch>
        </p:blipFill>
        <p:spPr>
          <a:xfrm>
            <a:off x="16006725" y="23187171"/>
            <a:ext cx="8142079" cy="2423238"/>
          </a:xfrm>
          <a:prstGeom prst="rect">
            <a:avLst/>
          </a:prstGeom>
        </p:spPr>
      </p:pic>
      <p:pic>
        <p:nvPicPr>
          <p:cNvPr id="5" name="Picture 4">
            <a:extLst>
              <a:ext uri="{FF2B5EF4-FFF2-40B4-BE49-F238E27FC236}">
                <a16:creationId xmlns:a16="http://schemas.microsoft.com/office/drawing/2014/main" id="{6B5D6A0F-5CEB-43BB-B578-39ACE5926E0F}"/>
              </a:ext>
            </a:extLst>
          </p:cNvPr>
          <p:cNvPicPr>
            <a:picLocks noChangeAspect="1"/>
          </p:cNvPicPr>
          <p:nvPr/>
        </p:nvPicPr>
        <p:blipFill>
          <a:blip r:embed="rId7"/>
          <a:stretch>
            <a:fillRect/>
          </a:stretch>
        </p:blipFill>
        <p:spPr>
          <a:xfrm>
            <a:off x="24536400" y="15162183"/>
            <a:ext cx="7696200" cy="4878417"/>
          </a:xfrm>
          <a:prstGeom prst="rect">
            <a:avLst/>
          </a:prstGeom>
        </p:spPr>
      </p:pic>
      <p:pic>
        <p:nvPicPr>
          <p:cNvPr id="8" name="Picture 7">
            <a:extLst>
              <a:ext uri="{FF2B5EF4-FFF2-40B4-BE49-F238E27FC236}">
                <a16:creationId xmlns:a16="http://schemas.microsoft.com/office/drawing/2014/main" id="{3391EF94-819A-4ECB-B500-26399975B512}"/>
              </a:ext>
            </a:extLst>
          </p:cNvPr>
          <p:cNvPicPr>
            <a:picLocks noChangeAspect="1"/>
          </p:cNvPicPr>
          <p:nvPr/>
        </p:nvPicPr>
        <p:blipFill>
          <a:blip r:embed="rId8"/>
          <a:stretch>
            <a:fillRect/>
          </a:stretch>
        </p:blipFill>
        <p:spPr>
          <a:xfrm>
            <a:off x="7161737" y="24193421"/>
            <a:ext cx="11442270" cy="4587483"/>
          </a:xfrm>
          <a:prstGeom prst="rect">
            <a:avLst/>
          </a:prstGeom>
        </p:spPr>
      </p:pic>
      <p:pic>
        <p:nvPicPr>
          <p:cNvPr id="9" name="Picture 8">
            <a:extLst>
              <a:ext uri="{FF2B5EF4-FFF2-40B4-BE49-F238E27FC236}">
                <a16:creationId xmlns:a16="http://schemas.microsoft.com/office/drawing/2014/main" id="{EC868116-6D1F-43B0-B282-74DA4CC5F455}"/>
              </a:ext>
            </a:extLst>
          </p:cNvPr>
          <p:cNvPicPr>
            <a:picLocks noChangeAspect="1"/>
          </p:cNvPicPr>
          <p:nvPr/>
        </p:nvPicPr>
        <p:blipFill>
          <a:blip r:embed="rId9"/>
          <a:stretch>
            <a:fillRect/>
          </a:stretch>
        </p:blipFill>
        <p:spPr>
          <a:xfrm>
            <a:off x="16006725" y="26772710"/>
            <a:ext cx="2990476" cy="2266667"/>
          </a:xfrm>
          <a:prstGeom prst="rect">
            <a:avLst/>
          </a:prstGeom>
        </p:spPr>
      </p:pic>
      <p:pic>
        <p:nvPicPr>
          <p:cNvPr id="10" name="Picture 9">
            <a:extLst>
              <a:ext uri="{FF2B5EF4-FFF2-40B4-BE49-F238E27FC236}">
                <a16:creationId xmlns:a16="http://schemas.microsoft.com/office/drawing/2014/main" id="{EDB63900-DC86-4557-9327-EFD4AA4DDEB6}"/>
              </a:ext>
            </a:extLst>
          </p:cNvPr>
          <p:cNvPicPr>
            <a:picLocks noChangeAspect="1"/>
          </p:cNvPicPr>
          <p:nvPr/>
        </p:nvPicPr>
        <p:blipFill>
          <a:blip r:embed="rId10"/>
          <a:stretch>
            <a:fillRect/>
          </a:stretch>
        </p:blipFill>
        <p:spPr>
          <a:xfrm>
            <a:off x="18898647" y="26868763"/>
            <a:ext cx="2942857" cy="2228571"/>
          </a:xfrm>
          <a:prstGeom prst="rect">
            <a:avLst/>
          </a:prstGeom>
        </p:spPr>
      </p:pic>
      <p:pic>
        <p:nvPicPr>
          <p:cNvPr id="11" name="Picture 10">
            <a:extLst>
              <a:ext uri="{FF2B5EF4-FFF2-40B4-BE49-F238E27FC236}">
                <a16:creationId xmlns:a16="http://schemas.microsoft.com/office/drawing/2014/main" id="{4F166C61-442E-4567-B4B6-140971D4EE30}"/>
              </a:ext>
            </a:extLst>
          </p:cNvPr>
          <p:cNvPicPr>
            <a:picLocks noChangeAspect="1"/>
          </p:cNvPicPr>
          <p:nvPr/>
        </p:nvPicPr>
        <p:blipFill>
          <a:blip r:embed="rId11"/>
          <a:stretch>
            <a:fillRect/>
          </a:stretch>
        </p:blipFill>
        <p:spPr>
          <a:xfrm>
            <a:off x="21771317" y="26732620"/>
            <a:ext cx="2942857" cy="2228571"/>
          </a:xfrm>
          <a:prstGeom prst="rect">
            <a:avLst/>
          </a:prstGeom>
        </p:spPr>
      </p:pic>
      <p:pic>
        <p:nvPicPr>
          <p:cNvPr id="12" name="Picture 11">
            <a:extLst>
              <a:ext uri="{FF2B5EF4-FFF2-40B4-BE49-F238E27FC236}">
                <a16:creationId xmlns:a16="http://schemas.microsoft.com/office/drawing/2014/main" id="{EA9C5FEE-6F3D-451F-B062-0453A1DCD127}"/>
              </a:ext>
            </a:extLst>
          </p:cNvPr>
          <p:cNvPicPr>
            <a:picLocks noChangeAspect="1"/>
          </p:cNvPicPr>
          <p:nvPr/>
        </p:nvPicPr>
        <p:blipFill>
          <a:blip r:embed="rId12"/>
          <a:stretch>
            <a:fillRect/>
          </a:stretch>
        </p:blipFill>
        <p:spPr>
          <a:xfrm>
            <a:off x="16035093" y="28958426"/>
            <a:ext cx="2990475" cy="2259977"/>
          </a:xfrm>
          <a:prstGeom prst="rect">
            <a:avLst/>
          </a:prstGeom>
        </p:spPr>
      </p:pic>
      <p:pic>
        <p:nvPicPr>
          <p:cNvPr id="1027" name="Picture 19">
            <a:extLst>
              <a:ext uri="{FF2B5EF4-FFF2-40B4-BE49-F238E27FC236}">
                <a16:creationId xmlns:a16="http://schemas.microsoft.com/office/drawing/2014/main" id="{02E2FFB8-5814-464C-9140-2C8314863D9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771317" y="28924250"/>
            <a:ext cx="2663825" cy="2323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 name="Picture 1">
            <a:extLst>
              <a:ext uri="{FF2B5EF4-FFF2-40B4-BE49-F238E27FC236}">
                <a16:creationId xmlns:a16="http://schemas.microsoft.com/office/drawing/2014/main" id="{D2CC3F46-976B-47FB-A4B0-F88B4E8DC33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911872" y="29029071"/>
            <a:ext cx="2863850"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a:extLst>
              <a:ext uri="{FF2B5EF4-FFF2-40B4-BE49-F238E27FC236}">
                <a16:creationId xmlns:a16="http://schemas.microsoft.com/office/drawing/2014/main" id="{C3DF2CA9-679F-45DE-9599-4F72A2717E97}"/>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175264" y="28924250"/>
            <a:ext cx="4314780" cy="29778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4240</TotalTime>
  <Words>1038</Words>
  <Application>Microsoft Office PowerPoint</Application>
  <PresentationFormat>Custom</PresentationFormat>
  <Paragraphs>44</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posterTemplate</dc:title>
  <dc:creator>Kumar, Arun</dc:creator>
  <cp:lastModifiedBy>ruchira mudliar</cp:lastModifiedBy>
  <cp:revision>80</cp:revision>
  <dcterms:created xsi:type="dcterms:W3CDTF">2008-05-03T03:01:56Z</dcterms:created>
  <dcterms:modified xsi:type="dcterms:W3CDTF">2020-09-06T06:01:26Z</dcterms:modified>
</cp:coreProperties>
</file>